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347" r:id="rId3"/>
    <p:sldId id="356" r:id="rId4"/>
    <p:sldId id="357" r:id="rId5"/>
    <p:sldId id="352" r:id="rId6"/>
    <p:sldId id="355" r:id="rId7"/>
  </p:sldIdLst>
  <p:sldSz cx="12192000" cy="6858000"/>
  <p:notesSz cx="6858000" cy="9144000"/>
  <p:embeddedFontLst>
    <p:embeddedFont>
      <p:font typeface="HS봄바람체 2.1" pitchFamily="2" charset="-127"/>
      <p:regular r:id="rId9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87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pos="7514" userDrawn="1">
          <p15:clr>
            <a:srgbClr val="A4A3A4"/>
          </p15:clr>
        </p15:guide>
        <p15:guide id="6" pos="5246" userDrawn="1">
          <p15:clr>
            <a:srgbClr val="A4A3A4"/>
          </p15:clr>
        </p15:guide>
        <p15:guide id="9" orient="horz" pos="754" userDrawn="1">
          <p15:clr>
            <a:srgbClr val="A4A3A4"/>
          </p15:clr>
        </p15:guide>
        <p15:guide id="10" pos="393" userDrawn="1">
          <p15:clr>
            <a:srgbClr val="A4A3A4"/>
          </p15:clr>
        </p15:guide>
        <p15:guide id="14" pos="4929" userDrawn="1">
          <p15:clr>
            <a:srgbClr val="A4A3A4"/>
          </p15:clr>
        </p15:guide>
        <p15:guide id="15" pos="7378" userDrawn="1">
          <p15:clr>
            <a:srgbClr val="A4A3A4"/>
          </p15:clr>
        </p15:guide>
        <p15:guide id="16" orient="horz" pos="1638" userDrawn="1">
          <p15:clr>
            <a:srgbClr val="A4A3A4"/>
          </p15:clr>
        </p15:guide>
        <p15:guide id="17" orient="horz" pos="23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  <a:srgbClr val="E0F2BA"/>
    <a:srgbClr val="FF978D"/>
    <a:srgbClr val="2A2A2A"/>
    <a:srgbClr val="F5E3E1"/>
    <a:srgbClr val="F2F2F2"/>
    <a:srgbClr val="FEF5CE"/>
    <a:srgbClr val="FBB8C6"/>
    <a:srgbClr val="E3CDFA"/>
    <a:srgbClr val="F9C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31"/>
    <p:restoredTop sz="92041"/>
  </p:normalViewPr>
  <p:slideViewPr>
    <p:cSldViewPr snapToGrid="0">
      <p:cViewPr varScale="1">
        <p:scale>
          <a:sx n="120" d="100"/>
          <a:sy n="120" d="100"/>
        </p:scale>
        <p:origin x="544" y="192"/>
      </p:cViewPr>
      <p:guideLst>
        <p:guide orient="horz" pos="187"/>
        <p:guide pos="143"/>
        <p:guide pos="7514"/>
        <p:guide pos="5246"/>
        <p:guide orient="horz" pos="754"/>
        <p:guide pos="393"/>
        <p:guide pos="4929"/>
        <p:guide pos="7378"/>
        <p:guide orient="horz" pos="1638"/>
        <p:guide orient="horz" pos="2364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1DD52-B93A-004E-8098-0C0A7DCE370D}" type="datetimeFigureOut">
              <a:rPr kumimoji="1" lang="ko-Kore-KR" altLang="en-US" smtClean="0"/>
              <a:t>2025. 11. 20.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7FC49-9F17-FE4E-A9FC-8AF1E00B85E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502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FD2E-E155-4E28-ABED-1D625927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A3B0FF-9423-5601-1A6A-B0289FAF4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6C40FC-18E2-6CAA-B1D0-19C9C844A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b="1" dirty="0"/>
              <a:t>PPL (Perplexity)</a:t>
            </a:r>
          </a:p>
          <a:p>
            <a:r>
              <a:rPr lang="ko-KR" altLang="en-US" dirty="0"/>
              <a:t>자연어 문장의 ‘언어 모델 관점 난이도’</a:t>
            </a:r>
          </a:p>
          <a:p>
            <a:r>
              <a:rPr lang="ko-KR" altLang="en-US" b="1" dirty="0"/>
              <a:t>낮을수록 문장이 더 자연스럽고 품질이 좋음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프레임간 안정성 </a:t>
            </a:r>
            <a:r>
              <a:rPr lang="en" altLang="ko-Kore-KR" b="1" dirty="0" err="1"/>
              <a:t>IoU</a:t>
            </a:r>
            <a:endParaRPr lang="en" altLang="ko-Kore-KR" b="1" dirty="0"/>
          </a:p>
          <a:p>
            <a:r>
              <a:rPr lang="ko-KR" altLang="en-US" dirty="0"/>
              <a:t>연속 프레임 사이에서 문장 위치</a:t>
            </a:r>
            <a:r>
              <a:rPr lang="en-US" altLang="ko-KR" dirty="0"/>
              <a:t>(</a:t>
            </a:r>
            <a:r>
              <a:rPr lang="en" altLang="ko-Kore-KR" dirty="0"/>
              <a:t>or </a:t>
            </a:r>
            <a:r>
              <a:rPr lang="ko-KR" altLang="en-US" dirty="0"/>
              <a:t>감지 박스</a:t>
            </a:r>
            <a:r>
              <a:rPr lang="en-US" altLang="ko-KR" dirty="0"/>
              <a:t>)</a:t>
            </a:r>
            <a:r>
              <a:rPr lang="ko-KR" altLang="en-US" dirty="0"/>
              <a:t>가 얼마나 일관되게 유지되는지</a:t>
            </a:r>
          </a:p>
          <a:p>
            <a:r>
              <a:rPr lang="ko-KR" altLang="en-US" b="1" dirty="0"/>
              <a:t>높을수록 안정적</a:t>
            </a:r>
            <a:endParaRPr lang="ko-KR" altLang="en-US" dirty="0"/>
          </a:p>
          <a:p>
            <a:endParaRPr lang="ko-KR" altLang="en-US" dirty="0"/>
          </a:p>
          <a:p>
            <a:br>
              <a:rPr kumimoji="1" lang="en-US" altLang="ko-Kore-KR" dirty="0"/>
            </a:br>
            <a:r>
              <a:rPr lang="en-US" altLang="ko-KR" b="1" dirty="0"/>
              <a:t>2. </a:t>
            </a:r>
            <a:r>
              <a:rPr lang="ko-KR" altLang="en-US" b="1" dirty="0"/>
              <a:t>군집 품질 지표 </a:t>
            </a:r>
            <a:r>
              <a:rPr lang="en-US" altLang="ko-KR" b="1" dirty="0"/>
              <a:t>(</a:t>
            </a:r>
            <a:r>
              <a:rPr lang="en" altLang="ko-Kore-KR" b="1" dirty="0"/>
              <a:t>DBSCAN </a:t>
            </a:r>
            <a:r>
              <a:rPr lang="ko-KR" altLang="en-US" b="1" dirty="0"/>
              <a:t>문장 위치</a:t>
            </a:r>
            <a:r>
              <a:rPr lang="en-US" altLang="ko-KR" b="1" dirty="0"/>
              <a:t>/</a:t>
            </a:r>
            <a:r>
              <a:rPr lang="ko-KR" altLang="en-US" b="1" dirty="0"/>
              <a:t>군집 안정성 평가</a:t>
            </a:r>
            <a:r>
              <a:rPr lang="en-US" altLang="ko-KR" b="1" dirty="0"/>
              <a:t>)</a:t>
            </a:r>
          </a:p>
          <a:p>
            <a:r>
              <a:rPr lang="en" altLang="ko-Kore-KR" b="1" dirty="0"/>
              <a:t>Silhouette Score (</a:t>
            </a:r>
            <a:r>
              <a:rPr lang="ko-KR" altLang="en-US" b="1" dirty="0"/>
              <a:t>실루엣 스코어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군집이 얼마나 잘 분리되고</a:t>
            </a:r>
            <a:r>
              <a:rPr lang="en-US" altLang="ko-KR" dirty="0"/>
              <a:t>, </a:t>
            </a:r>
            <a:r>
              <a:rPr lang="ko-KR" altLang="en-US" dirty="0"/>
              <a:t>내부는 얼마나 </a:t>
            </a:r>
            <a:r>
              <a:rPr lang="ko-KR" altLang="en-US" dirty="0" err="1"/>
              <a:t>촘촘한지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 err="1"/>
              <a:t>에</a:t>
            </a:r>
            <a:r>
              <a:rPr lang="ko-KR" altLang="en-US" b="1" dirty="0"/>
              <a:t> 가까울수록 좋음</a:t>
            </a:r>
            <a:endParaRPr lang="ko-KR" altLang="en-US" dirty="0"/>
          </a:p>
          <a:p>
            <a:r>
              <a:rPr lang="en" altLang="ko-Kore-KR" dirty="0"/>
              <a:t>Proposed</a:t>
            </a:r>
            <a:r>
              <a:rPr lang="ko-KR" altLang="en-US" dirty="0"/>
              <a:t>가 훨씬 높음 → </a:t>
            </a:r>
            <a:r>
              <a:rPr lang="ko-KR" altLang="en-US" b="1" dirty="0"/>
              <a:t>군집 구조가 매우 안정적</a:t>
            </a:r>
            <a:endParaRPr lang="ko-KR" altLang="en-US" dirty="0"/>
          </a:p>
          <a:p>
            <a:br>
              <a:rPr kumimoji="1" lang="en-US" altLang="ko-Kore-KR" dirty="0"/>
            </a:br>
            <a:br>
              <a:rPr kumimoji="1" lang="en-US" altLang="ko-Kore-KR" dirty="0"/>
            </a:br>
            <a:r>
              <a:rPr lang="en" altLang="ko-Kore-KR" b="1" dirty="0" err="1"/>
              <a:t>Calinski</a:t>
            </a:r>
            <a:r>
              <a:rPr lang="en" altLang="ko-Kore-KR" b="1" dirty="0"/>
              <a:t>–</a:t>
            </a:r>
            <a:r>
              <a:rPr lang="en" altLang="ko-Kore-KR" b="1" dirty="0" err="1"/>
              <a:t>Harabasz</a:t>
            </a:r>
            <a:r>
              <a:rPr lang="en" altLang="ko-Kore-KR" b="1" dirty="0"/>
              <a:t> (CH) Index</a:t>
            </a:r>
          </a:p>
          <a:p>
            <a:r>
              <a:rPr lang="ko-KR" altLang="en-US" dirty="0"/>
              <a:t>군집 사이 분리도 </a:t>
            </a:r>
            <a:r>
              <a:rPr lang="en-US" altLang="ko-KR" dirty="0"/>
              <a:t>/ </a:t>
            </a:r>
            <a:r>
              <a:rPr lang="ko-KR" altLang="en-US" dirty="0"/>
              <a:t>군집 내부 밀집도 평가</a:t>
            </a:r>
          </a:p>
          <a:p>
            <a:r>
              <a:rPr lang="ko-KR" altLang="en-US" b="1" dirty="0"/>
              <a:t>값이 클수록 군집이 선명함</a:t>
            </a:r>
            <a:endParaRPr lang="ko-KR" altLang="en-US" dirty="0"/>
          </a:p>
          <a:p>
            <a:endParaRPr kumimoji="1" lang="en-US" altLang="ko-Kore-KR" dirty="0"/>
          </a:p>
          <a:p>
            <a:r>
              <a:rPr lang="en" altLang="ko-Kore-KR" b="1" dirty="0"/>
              <a:t>Davies–Bouldin (DB) Index</a:t>
            </a:r>
          </a:p>
          <a:p>
            <a:r>
              <a:rPr lang="ko-KR" altLang="en-US" dirty="0"/>
              <a:t>군집 간 비슷함을 나타냄</a:t>
            </a:r>
          </a:p>
          <a:p>
            <a:r>
              <a:rPr lang="ko-KR" altLang="en-US" b="1" dirty="0"/>
              <a:t>낮을수록 좋음</a:t>
            </a:r>
            <a:endParaRPr lang="ko-KR" altLang="en-US" dirty="0"/>
          </a:p>
          <a:p>
            <a:r>
              <a:rPr lang="en" altLang="ko-Kore-KR" dirty="0"/>
              <a:t>Proposed</a:t>
            </a:r>
            <a:r>
              <a:rPr lang="ko-KR" altLang="en-US" dirty="0"/>
              <a:t>가 항상 더 낮음 → 군집이 서로 잘 구분됨</a:t>
            </a:r>
          </a:p>
          <a:p>
            <a:br>
              <a:rPr kumimoji="1" lang="en-US" altLang="ko-Kore-KR" dirty="0"/>
            </a:b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2A885E-E38A-E84D-05B6-774FF9409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956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1D59-FF35-6EE0-AAF0-15DD0808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D02BF9-CABB-6C16-07B0-E3F3608CD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E8B059-1AD3-B2A8-B89C-CF47AAB36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8B11F-1F3A-2A25-CC95-FB5D61D88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512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7A6B-C293-4CA6-E8B2-98629E69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4732F5-554F-E8C5-2070-3D529467A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02ABD8-E73E-15A0-1A0E-E8E3E55A7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DB978A-2E62-90A5-A3A3-39A2E42CD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21980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2AAC-4778-0449-F5B5-41F6C9D6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7A6DC1-3F33-606F-7EEC-73BDF77EE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F90B59-A3F8-4EFB-0BB9-36963F011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9C2EE-B41C-DDAE-B5D7-731299E5F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6743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BDA7-D21D-CC2D-D5FD-64EB212A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C7FF95-04C2-57A5-4F7C-26553C344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1DB67E-1E90-71C1-C969-9F1D53F13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BB00E2-88F0-7521-8E2C-4CA08DA6E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7055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2896A-0D82-1E1B-28EC-3490C77E8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60405C-7282-CF85-E6D2-6DA87359D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6E8A00-9E81-ECE4-595A-54EF5356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8A07-CF5A-0B40-8945-FAB1A44E0E46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8F85C-5F79-2686-CB09-9C5F72E0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12F759-2293-BB35-5FC9-FC5DFE23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1996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9E779-7AB6-0BBD-5113-12262C8A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74010-01EF-AB24-B893-60ADF747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FD38D-2A42-8F74-F56D-45049885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3A95-9A7B-E04F-858F-6D747FFCCB21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1CE61C-EE05-AA6A-BA50-4A7696E7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6BE488-A3AF-8645-37C5-63EA4973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14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B0AB3-9A52-553D-45A7-D6BF0456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BE4C48-BC2B-BBBD-410A-DAE7B817D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BA024-8F37-A7EB-B6CC-1019CAB4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66DF-87CF-D340-AF2C-27149DA26122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09B85-8B0F-67A3-A01B-E41932B6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79D8E-6195-A16B-2C19-33CC7DCF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808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BAF1E-C9EB-3A1C-3093-0F29D65E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8722B-362A-F78F-FAB8-16C545334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4B2331-BF27-E9B3-D6DA-28BECF29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F37C3A-091A-00B6-2911-7EE55777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31C-565C-674F-AFD0-4E554501BEB4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A2ACF0-F251-C6D0-2199-63E8F7E8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E2D6A9-F38B-36D7-61B0-CEF0390A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878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80D22-B082-9B52-F7BD-63139828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6F1D1D-6F67-2902-FCA6-842B1B1B3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2F84E-6011-CC64-04DD-119F8EBA9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5C02C-E18A-B98C-DEC8-17937B769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ED2E48-4B0D-BD8F-37FD-EF763F5D6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626635-8484-216C-DDA6-FEAAFCDF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04E05-E8D7-A142-B5A0-A1BC0E3EF6D8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AA2EBB-5F40-16F2-65C9-6450A769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3D5B05-B839-693F-D469-A6426F1A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281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3279E-AA39-848D-145B-1FC2D2CA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0668BE-24AF-C3DB-901B-6A1B1C92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868-CCAB-9242-B306-B5BE503CB176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34741E-817A-24C8-FCEB-1BA2555B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DD77C6-2792-24F2-CB67-581F6637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6433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FD431F-224A-4E30-481A-B58B1532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581F-BA9D-A246-A163-CAD3EB492B2B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F9665D-B67B-F2E1-E052-049290E2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A1E8F-2D89-970A-61EC-2AA73317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378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F7131-9B6C-106F-0FB0-D247D73F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23789-EB24-5331-925E-DFAF74A7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158338-6ABD-C698-A358-0BEFE51B1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DCDFE8-F10D-F368-9D2B-E7FF2C4E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3A45-7BFD-3649-97D9-897E3F7197A4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6E6E82-81FD-0E6F-043D-43AFF66C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64465-06EC-776A-C2E7-65C0683E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0081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DA5E6-7759-0E81-C8DC-A2443F248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8C58BA-6934-7CC2-C724-82206892A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053C33-C40A-D8B2-BC6E-F022AE50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F94103-0231-8839-3733-2656F1CF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FFA0-AC22-684C-9527-27D1D78784D8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EF00B0-826C-EC26-016A-7C478B76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9EB277-A3C8-ADD4-FF57-12665529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463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D0D3C-3AF2-266D-410B-548EAB90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4DCD06-86D6-8357-F905-F05552064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BD7DE-0D4F-8168-ECD3-AE23D862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0357-42C5-9448-8EE9-8ADFCBF54BEB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C1117-16C4-940C-ACA5-6E0F141A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6892F4-BDC7-8E38-E6C6-017D3FE2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562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A065BD-0597-E55F-BA11-916C1FBDB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86BF84-0197-2BE9-2A55-E680A9E07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C77D2-FBF8-0F05-0C6E-AF763CAC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41F19-0DB8-3D46-844A-A397C004862A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763C8-95F6-F1FA-4428-3D556B09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3004E-184B-482D-B7B5-EAB8873B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464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198D40-3D7B-9C9A-10EA-F7B22A02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F1FB37-7414-D769-FAAA-6E03DBCEC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19AFF-C5F0-05C8-2150-9FB7A22C0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481B8-7E6C-9F45-86F9-351FE347D6D4}" type="datetime1">
              <a:rPr kumimoji="1" lang="ko-KR" altLang="en-US" smtClean="0"/>
              <a:t>2025. 11. 20.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01BE8-F869-6CF7-96A5-81ADD0B0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7C96C7-4EC3-F2F4-E03B-BA22036C6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053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257F0-2871-A762-9AEB-3587DE75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D593AA7-ED52-E4B6-39BB-F84E9B9DA95F}"/>
              </a:ext>
            </a:extLst>
          </p:cNvPr>
          <p:cNvSpPr txBox="1"/>
          <p:nvPr/>
        </p:nvSpPr>
        <p:spPr>
          <a:xfrm>
            <a:off x="256653" y="225466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251120</a:t>
            </a:r>
            <a:endParaRPr lang="ko-KR" altLang="en-US" sz="2000" dirty="0">
              <a:solidFill>
                <a:srgbClr val="FEF5CE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25F4A72-7C18-ED69-67AF-6EA7E2372B3C}"/>
              </a:ext>
            </a:extLst>
          </p:cNvPr>
          <p:cNvSpPr/>
          <p:nvPr/>
        </p:nvSpPr>
        <p:spPr>
          <a:xfrm>
            <a:off x="160532" y="2317310"/>
            <a:ext cx="77532" cy="274826"/>
          </a:xfrm>
          <a:prstGeom prst="roundRect">
            <a:avLst/>
          </a:prstGeom>
          <a:solidFill>
            <a:srgbClr val="FEF5CE"/>
          </a:solidFill>
          <a:ln>
            <a:solidFill>
              <a:srgbClr val="FEF5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2C228EF3-B7B4-7067-813F-98071E76B647}"/>
              </a:ext>
            </a:extLst>
          </p:cNvPr>
          <p:cNvCxnSpPr>
            <a:cxnSpLocks/>
          </p:cNvCxnSpPr>
          <p:nvPr/>
        </p:nvCxnSpPr>
        <p:spPr>
          <a:xfrm>
            <a:off x="-206255" y="2709813"/>
            <a:ext cx="4468872" cy="0"/>
          </a:xfrm>
          <a:prstGeom prst="line">
            <a:avLst/>
          </a:prstGeom>
          <a:ln w="3175">
            <a:solidFill>
              <a:srgbClr val="FEF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72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81FC-9281-1FE5-FD18-1B1EAE94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2C12287-0D83-A705-E561-0E8E46692C5F}"/>
              </a:ext>
            </a:extLst>
          </p:cNvPr>
          <p:cNvSpPr/>
          <p:nvPr/>
        </p:nvSpPr>
        <p:spPr>
          <a:xfrm>
            <a:off x="0" y="-1"/>
            <a:ext cx="12192000" cy="132622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A2E34-D352-F3B7-6C0A-00D97A201975}"/>
              </a:ext>
            </a:extLst>
          </p:cNvPr>
          <p:cNvSpPr txBox="1"/>
          <p:nvPr/>
        </p:nvSpPr>
        <p:spPr>
          <a:xfrm>
            <a:off x="256653" y="9680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251120</a:t>
            </a:r>
            <a:endParaRPr lang="ko-KR" altLang="en-US" sz="2000" dirty="0">
              <a:solidFill>
                <a:srgbClr val="FEF5CE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3268AAB-A577-6D8F-CECE-AA5F17B3DB54}"/>
              </a:ext>
            </a:extLst>
          </p:cNvPr>
          <p:cNvCxnSpPr>
            <a:cxnSpLocks/>
          </p:cNvCxnSpPr>
          <p:nvPr/>
        </p:nvCxnSpPr>
        <p:spPr>
          <a:xfrm>
            <a:off x="-1096187" y="1004625"/>
            <a:ext cx="2205959" cy="0"/>
          </a:xfrm>
          <a:prstGeom prst="line">
            <a:avLst/>
          </a:prstGeom>
          <a:ln w="317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B3B82A-B6CB-C868-AD99-6EC700826742}"/>
              </a:ext>
            </a:extLst>
          </p:cNvPr>
          <p:cNvSpPr txBox="1"/>
          <p:nvPr/>
        </p:nvSpPr>
        <p:spPr>
          <a:xfrm>
            <a:off x="256653" y="696848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>
                <a:solidFill>
                  <a:srgbClr val="F2F2F2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진행 상황</a:t>
            </a:r>
          </a:p>
        </p:txBody>
      </p: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867A9622-96DB-B2E2-22C0-01D02830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1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35C5D91-4437-2AC6-D7BD-89316C70E460}"/>
              </a:ext>
            </a:extLst>
          </p:cNvPr>
          <p:cNvSpPr/>
          <p:nvPr/>
        </p:nvSpPr>
        <p:spPr>
          <a:xfrm>
            <a:off x="12113620" y="-2"/>
            <a:ext cx="375172" cy="1326221"/>
          </a:xfrm>
          <a:prstGeom prst="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E0BA4-492C-B433-F36C-8BD03D346D2F}"/>
              </a:ext>
            </a:extLst>
          </p:cNvPr>
          <p:cNvSpPr txBox="1"/>
          <p:nvPr/>
        </p:nvSpPr>
        <p:spPr>
          <a:xfrm>
            <a:off x="227013" y="1767959"/>
            <a:ext cx="3743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&gt;</a:t>
            </a:r>
            <a:r>
              <a:rPr kumimoji="1" lang="en-US" altLang="ko-KR" dirty="0"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&gt;&gt; </a:t>
            </a:r>
            <a:r>
              <a:rPr kumimoji="1" lang="ko-KR" altLang="en-US" dirty="0"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논문 작성을 위한 추가 실험을 진행</a:t>
            </a:r>
            <a:r>
              <a:rPr kumimoji="1" lang="en-US" altLang="ko-KR" dirty="0"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 </a:t>
            </a:r>
            <a:endParaRPr kumimoji="1" lang="en-US" altLang="ko-Kore-KR" dirty="0"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B5C66A-8D79-AB74-4DCD-25F0A3F90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47" y="1667436"/>
            <a:ext cx="5274776" cy="488223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54F507C-02B0-7C41-9DCB-C6944BFF9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37" y="2349152"/>
            <a:ext cx="3094483" cy="407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7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FF65-204E-0238-69AB-DFE072ED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FC5CDA6-803C-0F47-5016-FA08D5391DC6}"/>
              </a:ext>
            </a:extLst>
          </p:cNvPr>
          <p:cNvSpPr/>
          <p:nvPr/>
        </p:nvSpPr>
        <p:spPr>
          <a:xfrm>
            <a:off x="0" y="-1"/>
            <a:ext cx="12192000" cy="132622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96F02-EB56-DA1C-7881-A7BA5ECD9D68}"/>
              </a:ext>
            </a:extLst>
          </p:cNvPr>
          <p:cNvSpPr txBox="1"/>
          <p:nvPr/>
        </p:nvSpPr>
        <p:spPr>
          <a:xfrm>
            <a:off x="256653" y="9680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251120</a:t>
            </a:r>
            <a:endParaRPr lang="ko-KR" altLang="en-US" sz="2000" dirty="0">
              <a:solidFill>
                <a:srgbClr val="FEF5CE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6C43C6C-B92D-75DB-E3E0-A6D5EB90C15F}"/>
              </a:ext>
            </a:extLst>
          </p:cNvPr>
          <p:cNvCxnSpPr>
            <a:cxnSpLocks/>
          </p:cNvCxnSpPr>
          <p:nvPr/>
        </p:nvCxnSpPr>
        <p:spPr>
          <a:xfrm>
            <a:off x="-1096187" y="1004625"/>
            <a:ext cx="2205959" cy="0"/>
          </a:xfrm>
          <a:prstGeom prst="line">
            <a:avLst/>
          </a:prstGeom>
          <a:ln w="317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D8F156-D5A6-F827-6A39-4F43E0E21CDD}"/>
              </a:ext>
            </a:extLst>
          </p:cNvPr>
          <p:cNvSpPr txBox="1"/>
          <p:nvPr/>
        </p:nvSpPr>
        <p:spPr>
          <a:xfrm>
            <a:off x="256653" y="696848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>
                <a:solidFill>
                  <a:srgbClr val="F2F2F2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진행 상황</a:t>
            </a:r>
          </a:p>
        </p:txBody>
      </p: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6B3FCC48-FCB3-CC72-BFE2-9EE6B4DF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2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749A8AC-CE2B-051C-4919-65F309BF1CF2}"/>
              </a:ext>
            </a:extLst>
          </p:cNvPr>
          <p:cNvSpPr/>
          <p:nvPr/>
        </p:nvSpPr>
        <p:spPr>
          <a:xfrm>
            <a:off x="12113620" y="-2"/>
            <a:ext cx="375172" cy="1326221"/>
          </a:xfrm>
          <a:prstGeom prst="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C74725-8515-3744-2F00-76262FAE4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478" y="1423029"/>
            <a:ext cx="4132122" cy="2487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7452E6-0BFA-999E-BFC9-89801FB86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52" y="3910629"/>
            <a:ext cx="4132123" cy="2487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A6F087-6C0B-D806-507A-51031089E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53" y="1423029"/>
            <a:ext cx="4132122" cy="24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9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F43E-E1ED-1645-5B10-0E2FD93B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19E7A3D-91DE-CB58-8E07-5D2AE1F82A9A}"/>
              </a:ext>
            </a:extLst>
          </p:cNvPr>
          <p:cNvSpPr/>
          <p:nvPr/>
        </p:nvSpPr>
        <p:spPr>
          <a:xfrm>
            <a:off x="0" y="-1"/>
            <a:ext cx="12192000" cy="132622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EA292-A8A2-9E7C-E4E0-EE6B1446378C}"/>
              </a:ext>
            </a:extLst>
          </p:cNvPr>
          <p:cNvSpPr txBox="1"/>
          <p:nvPr/>
        </p:nvSpPr>
        <p:spPr>
          <a:xfrm>
            <a:off x="256653" y="9680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251120</a:t>
            </a:r>
            <a:endParaRPr lang="ko-KR" altLang="en-US" sz="2000" dirty="0">
              <a:solidFill>
                <a:srgbClr val="FEF5CE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CEB34964-71A2-CE9F-35BD-5E7EC3CFE2DE}"/>
              </a:ext>
            </a:extLst>
          </p:cNvPr>
          <p:cNvCxnSpPr>
            <a:cxnSpLocks/>
          </p:cNvCxnSpPr>
          <p:nvPr/>
        </p:nvCxnSpPr>
        <p:spPr>
          <a:xfrm>
            <a:off x="-1096187" y="1004625"/>
            <a:ext cx="2205959" cy="0"/>
          </a:xfrm>
          <a:prstGeom prst="line">
            <a:avLst/>
          </a:prstGeom>
          <a:ln w="317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7A5F41-3B6A-7444-81DA-5722F29CC8DF}"/>
              </a:ext>
            </a:extLst>
          </p:cNvPr>
          <p:cNvSpPr txBox="1"/>
          <p:nvPr/>
        </p:nvSpPr>
        <p:spPr>
          <a:xfrm>
            <a:off x="256653" y="696848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>
                <a:solidFill>
                  <a:srgbClr val="F2F2F2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진행 상황</a:t>
            </a:r>
          </a:p>
        </p:txBody>
      </p: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81DB5A29-C618-76BB-1887-CDA814C8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3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AEA886F-97F5-4B34-51CA-C93C66909F62}"/>
              </a:ext>
            </a:extLst>
          </p:cNvPr>
          <p:cNvSpPr/>
          <p:nvPr/>
        </p:nvSpPr>
        <p:spPr>
          <a:xfrm>
            <a:off x="12113620" y="-2"/>
            <a:ext cx="375172" cy="1326221"/>
          </a:xfrm>
          <a:prstGeom prst="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9" name="그림 8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2DDF34-BBF2-A401-FF21-B0CB3A42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962" y="1652122"/>
            <a:ext cx="3404651" cy="4943740"/>
          </a:xfrm>
          <a:prstGeom prst="rect">
            <a:avLst/>
          </a:prstGeom>
        </p:spPr>
      </p:pic>
      <p:pic>
        <p:nvPicPr>
          <p:cNvPr id="12" name="그림 11" descr="텍스트, 스크린샷, 문서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659E49-BC3C-EB5A-ABDF-BFB1D7A16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007" y="1516321"/>
            <a:ext cx="3645289" cy="5109070"/>
          </a:xfrm>
          <a:prstGeom prst="rect">
            <a:avLst/>
          </a:prstGeom>
        </p:spPr>
      </p:pic>
      <p:pic>
        <p:nvPicPr>
          <p:cNvPr id="14" name="그림 13" descr="텍스트, 스크린샷, 신문, 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67F0A0-F5BA-225F-74E3-98D7234C6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614" y="1458979"/>
            <a:ext cx="3404652" cy="4764611"/>
          </a:xfrm>
          <a:prstGeom prst="rect">
            <a:avLst/>
          </a:prstGeom>
        </p:spPr>
      </p:pic>
      <p:pic>
        <p:nvPicPr>
          <p:cNvPr id="16" name="그림 15" descr="텍스트, 영수증, 문서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9F9F29-6D29-6BD0-6954-58092934C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2899" y="1458978"/>
            <a:ext cx="3155893" cy="447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1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8396-A266-9127-B2BA-57E75CCF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53A14C2-E4E6-F8D3-7B11-E9B74FA01FFF}"/>
              </a:ext>
            </a:extLst>
          </p:cNvPr>
          <p:cNvSpPr/>
          <p:nvPr/>
        </p:nvSpPr>
        <p:spPr>
          <a:xfrm>
            <a:off x="0" y="-1"/>
            <a:ext cx="12192000" cy="132622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E87E7464-C00E-AD31-1FBA-DB3D7DE3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4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85906BC-B69A-A8E4-8354-A40EF5F325BE}"/>
              </a:ext>
            </a:extLst>
          </p:cNvPr>
          <p:cNvSpPr/>
          <p:nvPr/>
        </p:nvSpPr>
        <p:spPr>
          <a:xfrm>
            <a:off x="12113620" y="-2"/>
            <a:ext cx="375172" cy="1326221"/>
          </a:xfrm>
          <a:prstGeom prst="rect">
            <a:avLst/>
          </a:prstGeom>
          <a:solidFill>
            <a:srgbClr val="F5E3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30E54E-7D9D-DEB3-1889-ED5864CD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53" y="1633997"/>
            <a:ext cx="5152241" cy="20230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438F17-4EE6-3441-D575-2A8B92A8D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100" y="1423029"/>
            <a:ext cx="5958475" cy="2265267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2E34B1-42B1-413C-F832-DF9469A84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53" y="3994361"/>
            <a:ext cx="4184333" cy="16618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398DEE-3A2E-FB00-7218-F66064F59080}"/>
              </a:ext>
            </a:extLst>
          </p:cNvPr>
          <p:cNvSpPr txBox="1"/>
          <p:nvPr/>
        </p:nvSpPr>
        <p:spPr>
          <a:xfrm>
            <a:off x="256653" y="9680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251120</a:t>
            </a:r>
            <a:endParaRPr lang="ko-KR" altLang="en-US" sz="2000" dirty="0">
              <a:solidFill>
                <a:srgbClr val="FEF5CE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8C5EB7DD-8A5A-F678-4830-D72AFDDF6A70}"/>
              </a:ext>
            </a:extLst>
          </p:cNvPr>
          <p:cNvCxnSpPr>
            <a:cxnSpLocks/>
          </p:cNvCxnSpPr>
          <p:nvPr/>
        </p:nvCxnSpPr>
        <p:spPr>
          <a:xfrm>
            <a:off x="-1096187" y="1004625"/>
            <a:ext cx="2205959" cy="0"/>
          </a:xfrm>
          <a:prstGeom prst="line">
            <a:avLst/>
          </a:prstGeom>
          <a:ln w="317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57C2C7-EE48-92F5-E09A-855EFA3F0D36}"/>
              </a:ext>
            </a:extLst>
          </p:cNvPr>
          <p:cNvSpPr txBox="1"/>
          <p:nvPr/>
        </p:nvSpPr>
        <p:spPr>
          <a:xfrm>
            <a:off x="256653" y="696848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>
                <a:solidFill>
                  <a:srgbClr val="F2F2F2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진행 상황</a:t>
            </a:r>
          </a:p>
        </p:txBody>
      </p:sp>
    </p:spTree>
    <p:extLst>
      <p:ext uri="{BB962C8B-B14F-4D97-AF65-F5344CB8AC3E}">
        <p14:creationId xmlns:p14="http://schemas.microsoft.com/office/powerpoint/2010/main" val="140092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40A8C-4EEE-9B43-51D7-2F7929BB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6A6AD131-6BC0-EE62-159A-8F565CA16AC1}"/>
              </a:ext>
            </a:extLst>
          </p:cNvPr>
          <p:cNvCxnSpPr>
            <a:cxnSpLocks/>
          </p:cNvCxnSpPr>
          <p:nvPr/>
        </p:nvCxnSpPr>
        <p:spPr>
          <a:xfrm>
            <a:off x="-923056" y="1004625"/>
            <a:ext cx="2197936" cy="0"/>
          </a:xfrm>
          <a:prstGeom prst="line">
            <a:avLst/>
          </a:prstGeom>
          <a:ln w="3175">
            <a:solidFill>
              <a:srgbClr val="E0F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D1ECEAFB-0943-D679-3AFC-AE16CF67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5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09285-FE84-BB42-7C52-11A694CC592C}"/>
              </a:ext>
            </a:extLst>
          </p:cNvPr>
          <p:cNvSpPr txBox="1"/>
          <p:nvPr/>
        </p:nvSpPr>
        <p:spPr>
          <a:xfrm>
            <a:off x="5581275" y="3106519"/>
            <a:ext cx="1029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600" dirty="0"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Q&amp;A</a:t>
            </a:r>
            <a:endParaRPr kumimoji="1" lang="ko-Kore-KR" altLang="en-US" sz="3600" dirty="0"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64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40988</TotalTime>
  <Words>157</Words>
  <Application>Microsoft Macintosh PowerPoint</Application>
  <PresentationFormat>와이드스크린</PresentationFormat>
  <Paragraphs>43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Aptos</vt:lpstr>
      <vt:lpstr>Arial</vt:lpstr>
      <vt:lpstr>Apple SD Gothic Neo Thin</vt:lpstr>
      <vt:lpstr>HS봄바람체 2.1</vt:lpstr>
      <vt:lpstr>Aptos Display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김내경</dc:creator>
  <cp:lastModifiedBy>김내경</cp:lastModifiedBy>
  <cp:revision>33</cp:revision>
  <cp:lastPrinted>2024-12-04T10:05:58Z</cp:lastPrinted>
  <dcterms:created xsi:type="dcterms:W3CDTF">2024-12-03T01:12:13Z</dcterms:created>
  <dcterms:modified xsi:type="dcterms:W3CDTF">2025-11-24T05:11:57Z</dcterms:modified>
</cp:coreProperties>
</file>