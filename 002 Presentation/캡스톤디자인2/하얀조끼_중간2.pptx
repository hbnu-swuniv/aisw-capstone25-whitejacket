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343" r:id="rId3"/>
    <p:sldId id="341" r:id="rId4"/>
    <p:sldId id="344" r:id="rId5"/>
    <p:sldId id="345" r:id="rId6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87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pos="7514" userDrawn="1">
          <p15:clr>
            <a:srgbClr val="A4A3A4"/>
          </p15:clr>
        </p15:guide>
        <p15:guide id="6" pos="6743" userDrawn="1">
          <p15:clr>
            <a:srgbClr val="A4A3A4"/>
          </p15:clr>
        </p15:guide>
        <p15:guide id="9" orient="horz" pos="142" userDrawn="1">
          <p15:clr>
            <a:srgbClr val="A4A3A4"/>
          </p15:clr>
        </p15:guide>
        <p15:guide id="10" pos="5155" userDrawn="1">
          <p15:clr>
            <a:srgbClr val="A4A3A4"/>
          </p15:clr>
        </p15:guide>
        <p15:guide id="14" pos="1663" userDrawn="1">
          <p15:clr>
            <a:srgbClr val="A4A3A4"/>
          </p15:clr>
        </p15:guide>
        <p15:guide id="15" pos="7378" userDrawn="1">
          <p15:clr>
            <a:srgbClr val="A4A3A4"/>
          </p15:clr>
        </p15:guide>
        <p15:guide id="16" pos="3160" userDrawn="1">
          <p15:clr>
            <a:srgbClr val="A4A3A4"/>
          </p15:clr>
        </p15:guide>
        <p15:guide id="17" pos="24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AFB"/>
    <a:srgbClr val="F2F2F2"/>
    <a:srgbClr val="FEF5CE"/>
    <a:srgbClr val="FEF73A"/>
    <a:srgbClr val="FFF77C"/>
    <a:srgbClr val="E0F2BA"/>
    <a:srgbClr val="FFE4EA"/>
    <a:srgbClr val="FEF600"/>
    <a:srgbClr val="2A2A2A"/>
    <a:srgbClr val="FD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0"/>
    <p:restoredTop sz="92041"/>
  </p:normalViewPr>
  <p:slideViewPr>
    <p:cSldViewPr snapToGrid="0">
      <p:cViewPr>
        <p:scale>
          <a:sx n="101" d="100"/>
          <a:sy n="101" d="100"/>
        </p:scale>
        <p:origin x="368" y="608"/>
      </p:cViewPr>
      <p:guideLst>
        <p:guide orient="horz" pos="187"/>
        <p:guide pos="143"/>
        <p:guide pos="7514"/>
        <p:guide pos="6743"/>
        <p:guide orient="horz" pos="142"/>
        <p:guide pos="5155"/>
        <p:guide pos="1663"/>
        <p:guide pos="7378"/>
        <p:guide pos="3160"/>
        <p:guide pos="2411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1DD52-B93A-004E-8098-0C0A7DCE370D}" type="datetimeFigureOut">
              <a:rPr kumimoji="1" lang="ko-Kore-KR" altLang="en-US" smtClean="0"/>
              <a:t>2025. 11. 17.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7FC49-9F17-FE4E-A9FC-8AF1E00B85E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502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7597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0816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844E-D6AB-D57E-0343-A94EEBBF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8DCB8A-A68A-6D43-2FE6-324FD1F66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004060-FBEB-0529-57E5-0F55DAFE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92F8A-405C-D4D6-8244-E09111AB4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6896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CA14-2E80-EC72-DD95-1A000AAF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21C826-1992-AFFF-548E-2E43DE016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D4574C-832B-4870-3C77-F9BE7D275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4015F8-A320-D6A0-C348-3ECBE1DEA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7FC49-9F17-FE4E-A9FC-8AF1E00B85E7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6925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2896A-0D82-1E1B-28EC-3490C77E8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60405C-7282-CF85-E6D2-6DA87359D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6E8A00-9E81-ECE4-595A-54EF5356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8A07-CF5A-0B40-8945-FAB1A44E0E46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8F85C-5F79-2686-CB09-9C5F72E0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12F759-2293-BB35-5FC9-FC5DFE23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1996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9E779-7AB6-0BBD-5113-12262C8A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74010-01EF-AB24-B893-60ADF747F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FD38D-2A42-8F74-F56D-45049885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3A95-9A7B-E04F-858F-6D747FFCCB21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1CE61C-EE05-AA6A-BA50-4A7696E7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6BE488-A3AF-8645-37C5-63EA4973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14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B0AB3-9A52-553D-45A7-D6BF0456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BE4C48-BC2B-BBBD-410A-DAE7B817D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BA024-8F37-A7EB-B6CC-1019CAB4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66DF-87CF-D340-AF2C-27149DA26122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09B85-8B0F-67A3-A01B-E41932B6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79D8E-6195-A16B-2C19-33CC7DCF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808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BAF1E-C9EB-3A1C-3093-0F29D65E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8722B-362A-F78F-FAB8-16C545334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4B2331-BF27-E9B3-D6DA-28BECF29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F37C3A-091A-00B6-2911-7EE55777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8231C-565C-674F-AFD0-4E554501BEB4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A2ACF0-F251-C6D0-2199-63E8F7E8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E2D6A9-F38B-36D7-61B0-CEF0390A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878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80D22-B082-9B52-F7BD-63139828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6F1D1D-6F67-2902-FCA6-842B1B1B3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2F84E-6011-CC64-04DD-119F8EBA9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5C02C-E18A-B98C-DEC8-17937B769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ED2E48-4B0D-BD8F-37FD-EF763F5D6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626635-8484-216C-DDA6-FEAAFCDF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04E05-E8D7-A142-B5A0-A1BC0E3EF6D8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AA2EBB-5F40-16F2-65C9-6450A769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3D5B05-B839-693F-D469-A6426F1A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281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3279E-AA39-848D-145B-1FC2D2CA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0668BE-24AF-C3DB-901B-6A1B1C92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C8868-CCAB-9242-B306-B5BE503CB176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34741E-817A-24C8-FCEB-1BA2555B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DD77C6-2792-24F2-CB67-581F6637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6433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FD431F-224A-4E30-481A-B58B1532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D581F-BA9D-A246-A163-CAD3EB492B2B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F9665D-B67B-F2E1-E052-049290E2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A1E8F-2D89-970A-61EC-2AA73317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378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F7131-9B6C-106F-0FB0-D247D73F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23789-EB24-5331-925E-DFAF74A7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158338-6ABD-C698-A358-0BEFE51B1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DCDFE8-F10D-F368-9D2B-E7FF2C4E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3A45-7BFD-3649-97D9-897E3F7197A4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6E6E82-81FD-0E6F-043D-43AFF66C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64465-06EC-776A-C2E7-65C0683E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0081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DA5E6-7759-0E81-C8DC-A2443F248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8C58BA-6934-7CC2-C724-82206892A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053C33-C40A-D8B2-BC6E-F022AE50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F94103-0231-8839-3733-2656F1CF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FFA0-AC22-684C-9527-27D1D78784D8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EF00B0-826C-EC26-016A-7C478B76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9EB277-A3C8-ADD4-FF57-12665529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463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D0D3C-3AF2-266D-410B-548EAB90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4DCD06-86D6-8357-F905-F05552064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BD7DE-0D4F-8168-ECD3-AE23D862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0357-42C5-9448-8EE9-8ADFCBF54BEB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C1117-16C4-940C-ACA5-6E0F141A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6892F4-BDC7-8E38-E6C6-017D3FE2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562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A065BD-0597-E55F-BA11-916C1FBDB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86BF84-0197-2BE9-2A55-E680A9E07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8C77D2-FBF8-0F05-0C6E-AF763CAC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41F19-0DB8-3D46-844A-A397C004862A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763C8-95F6-F1FA-4428-3D556B09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3004E-184B-482D-B7B5-EAB8873B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4464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198D40-3D7B-9C9A-10EA-F7B22A02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F1FB37-7414-D769-FAAA-6E03DBCEC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19AFF-C5F0-05C8-2150-9FB7A22C0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481B8-7E6C-9F45-86F9-351FE347D6D4}" type="datetime1">
              <a:rPr kumimoji="1" lang="ko-KR" altLang="en-US" smtClean="0"/>
              <a:t>2025. 11. 17.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01BE8-F869-6CF7-96A5-81ADD0B0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7C96C7-4EC3-F2F4-E03B-BA22036C6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2AB5A-8C0D-B547-8B30-4DCC17F897F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053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257F0-2871-A762-9AEB-3587DE75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D593AA7-ED52-E4B6-39BB-F84E9B9DA95F}"/>
              </a:ext>
            </a:extLst>
          </p:cNvPr>
          <p:cNvSpPr txBox="1"/>
          <p:nvPr/>
        </p:nvSpPr>
        <p:spPr>
          <a:xfrm>
            <a:off x="256653" y="225466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251106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&gt;&gt;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lang="ko-KR" altLang="en-US" sz="2000" dirty="0" err="1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캡스톤디자인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진행상황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25F4A72-7C18-ED69-67AF-6EA7E2372B3C}"/>
              </a:ext>
            </a:extLst>
          </p:cNvPr>
          <p:cNvSpPr/>
          <p:nvPr/>
        </p:nvSpPr>
        <p:spPr>
          <a:xfrm>
            <a:off x="160532" y="2317310"/>
            <a:ext cx="77532" cy="274826"/>
          </a:xfrm>
          <a:prstGeom prst="roundRect">
            <a:avLst/>
          </a:prstGeom>
          <a:solidFill>
            <a:srgbClr val="FEF5CE"/>
          </a:solidFill>
          <a:ln>
            <a:solidFill>
              <a:srgbClr val="FEF5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2C228EF3-B7B4-7067-813F-98071E76B647}"/>
              </a:ext>
            </a:extLst>
          </p:cNvPr>
          <p:cNvCxnSpPr>
            <a:cxnSpLocks/>
          </p:cNvCxnSpPr>
          <p:nvPr/>
        </p:nvCxnSpPr>
        <p:spPr>
          <a:xfrm>
            <a:off x="-206255" y="2709813"/>
            <a:ext cx="4468872" cy="0"/>
          </a:xfrm>
          <a:prstGeom prst="line">
            <a:avLst/>
          </a:prstGeom>
          <a:ln w="3175">
            <a:solidFill>
              <a:srgbClr val="FEF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72C7B1-BCCF-752D-9EE9-596DF1491DAB}"/>
              </a:ext>
            </a:extLst>
          </p:cNvPr>
          <p:cNvSpPr txBox="1"/>
          <p:nvPr/>
        </p:nvSpPr>
        <p:spPr>
          <a:xfrm>
            <a:off x="3092000" y="2764849"/>
            <a:ext cx="11455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20221044</a:t>
            </a:r>
            <a:r>
              <a:rPr lang="ko-KR" altLang="en-US" sz="11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김내경</a:t>
            </a:r>
          </a:p>
        </p:txBody>
      </p:sp>
    </p:spTree>
    <p:extLst>
      <p:ext uri="{BB962C8B-B14F-4D97-AF65-F5344CB8AC3E}">
        <p14:creationId xmlns:p14="http://schemas.microsoft.com/office/powerpoint/2010/main" val="324772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AE6E-300E-77AA-CB76-4CD2B2FF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D247888-86C4-61A1-5390-91A1B70A3FB5}"/>
              </a:ext>
            </a:extLst>
          </p:cNvPr>
          <p:cNvSpPr/>
          <p:nvPr/>
        </p:nvSpPr>
        <p:spPr>
          <a:xfrm>
            <a:off x="0" y="-1"/>
            <a:ext cx="12192000" cy="1326221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736407-1164-8FD5-BBEB-2DFDA036C79E}"/>
              </a:ext>
            </a:extLst>
          </p:cNvPr>
          <p:cNvSpPr txBox="1"/>
          <p:nvPr/>
        </p:nvSpPr>
        <p:spPr>
          <a:xfrm>
            <a:off x="256653" y="96808"/>
            <a:ext cx="11455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250925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lang="en-US" altLang="ko-KR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&gt;&gt;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lang="ko-KR" altLang="en-US" sz="2000" dirty="0" err="1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캡스톤디자인</a:t>
            </a:r>
            <a:r>
              <a:rPr lang="ko-KR" altLang="en-US" sz="2000" dirty="0">
                <a:solidFill>
                  <a:srgbClr val="FEF5CE"/>
                </a:solidFill>
                <a:latin typeface="HS봄바람체 2.1" pitchFamily="2" charset="-127"/>
                <a:ea typeface="HS봄바람체 2.1" pitchFamily="2" charset="-127"/>
              </a:rPr>
              <a:t> 최종 진행상황</a:t>
            </a:r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D4B95AC5-EDC4-BBA3-62E1-437ECEBF5AA0}"/>
              </a:ext>
            </a:extLst>
          </p:cNvPr>
          <p:cNvCxnSpPr>
            <a:cxnSpLocks/>
          </p:cNvCxnSpPr>
          <p:nvPr/>
        </p:nvCxnSpPr>
        <p:spPr>
          <a:xfrm>
            <a:off x="-1226580" y="1004625"/>
            <a:ext cx="3875651" cy="0"/>
          </a:xfrm>
          <a:prstGeom prst="line">
            <a:avLst/>
          </a:prstGeom>
          <a:ln w="317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DEFC7C-C388-FF33-3228-941A625BC4B1}"/>
              </a:ext>
            </a:extLst>
          </p:cNvPr>
          <p:cNvSpPr txBox="1"/>
          <p:nvPr/>
        </p:nvSpPr>
        <p:spPr>
          <a:xfrm>
            <a:off x="256653" y="696848"/>
            <a:ext cx="2494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400" dirty="0">
                <a:solidFill>
                  <a:srgbClr val="F2F2F2"/>
                </a:solidFill>
                <a:latin typeface="HS봄바람체 2.1" pitchFamily="2" charset="-127"/>
                <a:ea typeface="HS봄바람체 2.1" pitchFamily="2" charset="-127"/>
              </a:rPr>
              <a:t>PIPELINE ARCHITECTURE</a:t>
            </a:r>
            <a:endParaRPr kumimoji="1" lang="ko-Kore-KR" altLang="en-US" sz="1400" dirty="0">
              <a:solidFill>
                <a:srgbClr val="F2F2F2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103" name="슬라이드 번호 개체 틀 1">
            <a:extLst>
              <a:ext uri="{FF2B5EF4-FFF2-40B4-BE49-F238E27FC236}">
                <a16:creationId xmlns:a16="http://schemas.microsoft.com/office/drawing/2014/main" id="{71DF1587-C8A7-CDBD-C570-2180E54B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>
                <a:solidFill>
                  <a:srgbClr val="2A2A2A"/>
                </a:solidFill>
              </a:rPr>
              <a:t>1</a:t>
            </a:fld>
            <a:endParaRPr kumimoji="1" lang="ko-Kore-KR" altLang="en-US" dirty="0">
              <a:solidFill>
                <a:srgbClr val="2A2A2A"/>
              </a:solidFill>
            </a:endParaRPr>
          </a:p>
        </p:txBody>
      </p:sp>
      <p:cxnSp>
        <p:nvCxnSpPr>
          <p:cNvPr id="106" name="직선 연결선[R] 105">
            <a:extLst>
              <a:ext uri="{FF2B5EF4-FFF2-40B4-BE49-F238E27FC236}">
                <a16:creationId xmlns:a16="http://schemas.microsoft.com/office/drawing/2014/main" id="{11353D49-E393-8DEF-18A0-BA48486D2227}"/>
              </a:ext>
            </a:extLst>
          </p:cNvPr>
          <p:cNvCxnSpPr>
            <a:cxnSpLocks/>
          </p:cNvCxnSpPr>
          <p:nvPr/>
        </p:nvCxnSpPr>
        <p:spPr>
          <a:xfrm>
            <a:off x="3720004" y="696848"/>
            <a:ext cx="0" cy="6941081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D4C1ECA-E7F2-2727-96D4-C403014F6E5C}"/>
              </a:ext>
            </a:extLst>
          </p:cNvPr>
          <p:cNvSpPr/>
          <p:nvPr/>
        </p:nvSpPr>
        <p:spPr>
          <a:xfrm>
            <a:off x="12113620" y="-2"/>
            <a:ext cx="375172" cy="1326221"/>
          </a:xfrm>
          <a:prstGeom prst="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A24063-5FF0-85C3-E47E-033AFE9E63E4}"/>
              </a:ext>
            </a:extLst>
          </p:cNvPr>
          <p:cNvSpPr/>
          <p:nvPr/>
        </p:nvSpPr>
        <p:spPr>
          <a:xfrm>
            <a:off x="423738" y="1633997"/>
            <a:ext cx="2872528" cy="4885638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0BCD1111-8B77-B41E-919A-B85ED7C827C3}"/>
              </a:ext>
            </a:extLst>
          </p:cNvPr>
          <p:cNvCxnSpPr>
            <a:cxnSpLocks/>
          </p:cNvCxnSpPr>
          <p:nvPr/>
        </p:nvCxnSpPr>
        <p:spPr>
          <a:xfrm>
            <a:off x="1141749" y="1845613"/>
            <a:ext cx="1440419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B944CD0B-D586-54C5-4C56-878D5A5D3BFF}"/>
              </a:ext>
            </a:extLst>
          </p:cNvPr>
          <p:cNvCxnSpPr>
            <a:cxnSpLocks/>
          </p:cNvCxnSpPr>
          <p:nvPr/>
        </p:nvCxnSpPr>
        <p:spPr>
          <a:xfrm>
            <a:off x="2584155" y="1839082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58A041F6-DDBF-0110-6EFA-60E6D858C3EC}"/>
              </a:ext>
            </a:extLst>
          </p:cNvPr>
          <p:cNvCxnSpPr>
            <a:cxnSpLocks/>
          </p:cNvCxnSpPr>
          <p:nvPr/>
        </p:nvCxnSpPr>
        <p:spPr>
          <a:xfrm>
            <a:off x="1140210" y="1843369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91DED33-3CCB-BC05-E737-9F9F247CF736}"/>
              </a:ext>
            </a:extLst>
          </p:cNvPr>
          <p:cNvSpPr/>
          <p:nvPr/>
        </p:nvSpPr>
        <p:spPr>
          <a:xfrm>
            <a:off x="537489" y="2097558"/>
            <a:ext cx="1265650" cy="190507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3ED7003-017A-3CB4-FC04-D0D5141BF700}"/>
              </a:ext>
            </a:extLst>
          </p:cNvPr>
          <p:cNvSpPr/>
          <p:nvPr/>
        </p:nvSpPr>
        <p:spPr>
          <a:xfrm>
            <a:off x="1929750" y="1964635"/>
            <a:ext cx="1265650" cy="2198618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6" name="그래픽 15" descr="갈매기형 화살표 윤곽선">
            <a:extLst>
              <a:ext uri="{FF2B5EF4-FFF2-40B4-BE49-F238E27FC236}">
                <a16:creationId xmlns:a16="http://schemas.microsoft.com/office/drawing/2014/main" id="{3849F8E4-CB83-E8CA-6A38-009F60D85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357826" y="4202100"/>
            <a:ext cx="377952" cy="377952"/>
          </a:xfrm>
          <a:prstGeom prst="rect">
            <a:avLst/>
          </a:prstGeom>
        </p:spPr>
      </p:pic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3A4A1F3-FC71-5D1E-357D-667B14544509}"/>
              </a:ext>
            </a:extLst>
          </p:cNvPr>
          <p:cNvSpPr/>
          <p:nvPr/>
        </p:nvSpPr>
        <p:spPr>
          <a:xfrm>
            <a:off x="531688" y="4233099"/>
            <a:ext cx="1265650" cy="146465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872A21A6-5EBF-D4B9-AF62-D14221B5BE79}"/>
              </a:ext>
            </a:extLst>
          </p:cNvPr>
          <p:cNvCxnSpPr>
            <a:cxnSpLocks/>
          </p:cNvCxnSpPr>
          <p:nvPr/>
        </p:nvCxnSpPr>
        <p:spPr>
          <a:xfrm>
            <a:off x="1147579" y="5899111"/>
            <a:ext cx="1439659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2159DD5C-C726-FCEF-A1FE-300A8D54AA0E}"/>
              </a:ext>
            </a:extLst>
          </p:cNvPr>
          <p:cNvCxnSpPr>
            <a:cxnSpLocks/>
          </p:cNvCxnSpPr>
          <p:nvPr/>
        </p:nvCxnSpPr>
        <p:spPr>
          <a:xfrm>
            <a:off x="2587238" y="5369142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2658E004-CEE4-3D63-66BB-1885CCCB4CF1}"/>
              </a:ext>
            </a:extLst>
          </p:cNvPr>
          <p:cNvCxnSpPr>
            <a:cxnSpLocks/>
          </p:cNvCxnSpPr>
          <p:nvPr/>
        </p:nvCxnSpPr>
        <p:spPr>
          <a:xfrm>
            <a:off x="1147579" y="5369142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그래픽 31" descr="갈매기형 화살표 윤곽선">
            <a:extLst>
              <a:ext uri="{FF2B5EF4-FFF2-40B4-BE49-F238E27FC236}">
                <a16:creationId xmlns:a16="http://schemas.microsoft.com/office/drawing/2014/main" id="{2280388E-B114-B39C-503A-443E44ECC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729502" y="6019884"/>
            <a:ext cx="272241" cy="272241"/>
          </a:xfrm>
          <a:prstGeom prst="rect">
            <a:avLst/>
          </a:prstGeom>
        </p:spPr>
      </p:pic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8A60D9B6-E61E-2BEC-6466-61ACEFE26D70}"/>
              </a:ext>
            </a:extLst>
          </p:cNvPr>
          <p:cNvSpPr/>
          <p:nvPr/>
        </p:nvSpPr>
        <p:spPr>
          <a:xfrm>
            <a:off x="1337468" y="6402299"/>
            <a:ext cx="1034828" cy="401399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CD69BD-8DB7-F690-F1B6-42F4675BD9F8}"/>
              </a:ext>
            </a:extLst>
          </p:cNvPr>
          <p:cNvSpPr txBox="1"/>
          <p:nvPr/>
        </p:nvSpPr>
        <p:spPr>
          <a:xfrm>
            <a:off x="1446882" y="6466480"/>
            <a:ext cx="82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F2F2F2"/>
                </a:solidFill>
                <a:latin typeface="HS봄바람체 2.1" pitchFamily="2" charset="-127"/>
                <a:ea typeface="HS봄바람체 2.1" pitchFamily="2" charset="-127"/>
              </a:rPr>
              <a:t>OUTPUT</a:t>
            </a:r>
            <a:endParaRPr kumimoji="1" lang="ko-Kore-KR" altLang="en-US" sz="1200" dirty="0">
              <a:solidFill>
                <a:srgbClr val="F2F2F2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AC06F8CC-F728-812F-9183-C55B65C99B8F}"/>
              </a:ext>
            </a:extLst>
          </p:cNvPr>
          <p:cNvSpPr/>
          <p:nvPr/>
        </p:nvSpPr>
        <p:spPr>
          <a:xfrm>
            <a:off x="1353489" y="1351855"/>
            <a:ext cx="1034828" cy="401399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509B55-714B-54A5-8E56-29BA39ABA51F}"/>
              </a:ext>
            </a:extLst>
          </p:cNvPr>
          <p:cNvSpPr txBox="1"/>
          <p:nvPr/>
        </p:nvSpPr>
        <p:spPr>
          <a:xfrm>
            <a:off x="1524814" y="1415041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F2F2F2"/>
                </a:solidFill>
                <a:latin typeface="HS봄바람체 2.1" pitchFamily="2" charset="-127"/>
                <a:ea typeface="HS봄바람체 2.1" pitchFamily="2" charset="-127"/>
              </a:rPr>
              <a:t>INPUT</a:t>
            </a:r>
            <a:endParaRPr kumimoji="1" lang="ko-Kore-KR" altLang="en-US" sz="1200" dirty="0">
              <a:solidFill>
                <a:srgbClr val="F2F2F2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67EE05D-BFF6-1392-6FF0-BB60F17AEC67}"/>
              </a:ext>
            </a:extLst>
          </p:cNvPr>
          <p:cNvSpPr/>
          <p:nvPr/>
        </p:nvSpPr>
        <p:spPr>
          <a:xfrm>
            <a:off x="647099" y="2276313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IMU </a:t>
            </a:r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이동거리 추정</a:t>
            </a:r>
            <a:endParaRPr kumimoji="1" lang="ko-Kore-KR" altLang="en-US" sz="10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4462E815-1D30-80CF-7C4A-25B6306D6AB9}"/>
              </a:ext>
            </a:extLst>
          </p:cNvPr>
          <p:cNvSpPr/>
          <p:nvPr/>
        </p:nvSpPr>
        <p:spPr>
          <a:xfrm>
            <a:off x="647099" y="2674650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S</a:t>
            </a:r>
            <a:r>
              <a:rPr kumimoji="1" lang="en" altLang="ko-Kore-KR" sz="8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egmentation</a:t>
            </a:r>
            <a:r>
              <a:rPr kumimoji="1" lang="en" altLang="ko-Kore-KR" sz="10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마스크 추출</a:t>
            </a:r>
            <a:endParaRPr kumimoji="1" lang="ko-Kore-KR" altLang="en-US" sz="10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5FE3FE7C-55A9-8F35-406C-A8F6A4634677}"/>
              </a:ext>
            </a:extLst>
          </p:cNvPr>
          <p:cNvSpPr/>
          <p:nvPr/>
        </p:nvSpPr>
        <p:spPr>
          <a:xfrm>
            <a:off x="646845" y="3083782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D</a:t>
            </a:r>
            <a:r>
              <a:rPr kumimoji="1" lang="en" altLang="ko-Kore-KR" sz="8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epth</a:t>
            </a:r>
            <a:r>
              <a:rPr kumimoji="1" lang="en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</a:t>
            </a:r>
            <a:endParaRPr kumimoji="1" lang="en-US" altLang="ko-KR" sz="8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객체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깊이 계산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5A577867-88FC-7640-A8EF-2698790D4FBD}"/>
              </a:ext>
            </a:extLst>
          </p:cNvPr>
          <p:cNvSpPr/>
          <p:nvPr/>
        </p:nvSpPr>
        <p:spPr>
          <a:xfrm>
            <a:off x="649174" y="3492914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동적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,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정적 장애물 분류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70651101-E3D9-AB6F-5472-FCFB50280E43}"/>
              </a:ext>
            </a:extLst>
          </p:cNvPr>
          <p:cNvSpPr/>
          <p:nvPr/>
        </p:nvSpPr>
        <p:spPr>
          <a:xfrm>
            <a:off x="646845" y="4383720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프레임 영역화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DDB70175-CFBE-658C-53F7-09E467B26B55}"/>
              </a:ext>
            </a:extLst>
          </p:cNvPr>
          <p:cNvSpPr/>
          <p:nvPr/>
        </p:nvSpPr>
        <p:spPr>
          <a:xfrm>
            <a:off x="646845" y="4791591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객체 밀도 분석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9022551-3957-F886-E80E-51C52DACCEE1}"/>
              </a:ext>
            </a:extLst>
          </p:cNvPr>
          <p:cNvSpPr/>
          <p:nvPr/>
        </p:nvSpPr>
        <p:spPr>
          <a:xfrm>
            <a:off x="648983" y="5201593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안전 보행 </a:t>
            </a:r>
            <a:endParaRPr kumimoji="1" lang="en-US" altLang="ko-KR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방향 안내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3D43023B-32F5-FCD0-F86F-7D8A55EFF5B0}"/>
              </a:ext>
            </a:extLst>
          </p:cNvPr>
          <p:cNvSpPr/>
          <p:nvPr/>
        </p:nvSpPr>
        <p:spPr>
          <a:xfrm>
            <a:off x="2051601" y="2098889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다중 </a:t>
            </a:r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전처리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</a:p>
          <a:p>
            <a:pPr algn="ctr"/>
            <a:r>
              <a:rPr kumimoji="1" lang="en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ROI </a:t>
            </a:r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워핑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26CDE487-2DAD-6889-4FFF-0E411C673B6C}"/>
              </a:ext>
            </a:extLst>
          </p:cNvPr>
          <p:cNvSpPr/>
          <p:nvPr/>
        </p:nvSpPr>
        <p:spPr>
          <a:xfrm>
            <a:off x="2051601" y="2499217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텍스트 후보 인식 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(</a:t>
            </a:r>
            <a:r>
              <a:rPr kumimoji="1" lang="en-US" altLang="ko-KR" sz="7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PaddleOCR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)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79389338-09FF-9C86-F5FE-7A9795F05A45}"/>
              </a:ext>
            </a:extLst>
          </p:cNvPr>
          <p:cNvSpPr/>
          <p:nvPr/>
        </p:nvSpPr>
        <p:spPr>
          <a:xfrm>
            <a:off x="2051601" y="2906358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후처리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/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필터링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2AD87A77-2074-CA76-DD8B-5FB886B9DFF1}"/>
              </a:ext>
            </a:extLst>
          </p:cNvPr>
          <p:cNvSpPr/>
          <p:nvPr/>
        </p:nvSpPr>
        <p:spPr>
          <a:xfrm>
            <a:off x="2051601" y="3310427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DBSCAN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클러스터링</a:t>
            </a:r>
            <a:endParaRPr kumimoji="1" lang="ko-Kore-KR" altLang="en-US" sz="12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4842778F-B5A7-9DBB-EB54-4A114FAB4D68}"/>
              </a:ext>
            </a:extLst>
          </p:cNvPr>
          <p:cNvSpPr/>
          <p:nvPr/>
        </p:nvSpPr>
        <p:spPr>
          <a:xfrm>
            <a:off x="2051601" y="3704994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API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및 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TTS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통합 안내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DEC42E47-97EC-2DA8-AF45-1F44BDD8A6A8}"/>
              </a:ext>
            </a:extLst>
          </p:cNvPr>
          <p:cNvSpPr/>
          <p:nvPr/>
        </p:nvSpPr>
        <p:spPr>
          <a:xfrm>
            <a:off x="1912495" y="4644232"/>
            <a:ext cx="1265650" cy="103592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4FC837A-A1D6-0145-DC97-6B8CE9ACC361}"/>
              </a:ext>
            </a:extLst>
          </p:cNvPr>
          <p:cNvSpPr/>
          <p:nvPr/>
        </p:nvSpPr>
        <p:spPr>
          <a:xfrm>
            <a:off x="2029770" y="5198162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방향성 </a:t>
            </a:r>
            <a:endParaRPr kumimoji="1" lang="en-US" altLang="ko-KR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비프음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출력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pic>
        <p:nvPicPr>
          <p:cNvPr id="51" name="그래픽 50" descr="갈매기형 화살표 윤곽선">
            <a:extLst>
              <a:ext uri="{FF2B5EF4-FFF2-40B4-BE49-F238E27FC236}">
                <a16:creationId xmlns:a16="http://schemas.microsoft.com/office/drawing/2014/main" id="{2F777C90-E954-A6DD-98FF-A204E2162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054220" y="4006853"/>
            <a:ext cx="220078" cy="220078"/>
          </a:xfrm>
          <a:prstGeom prst="rect">
            <a:avLst/>
          </a:prstGeom>
        </p:spPr>
      </p:pic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F89B1258-EBAB-7AAC-D503-CA80C112B8C3}"/>
              </a:ext>
            </a:extLst>
          </p:cNvPr>
          <p:cNvSpPr/>
          <p:nvPr/>
        </p:nvSpPr>
        <p:spPr>
          <a:xfrm>
            <a:off x="2024268" y="4788963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YOLO + Depth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충돌 예측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pic>
        <p:nvPicPr>
          <p:cNvPr id="54" name="그림 53" descr="텍스트, 스크린샷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DC41E-690B-B9B3-84A5-930D514E1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3" y="1605106"/>
            <a:ext cx="5241955" cy="486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3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9863-F2D2-3EF2-53F9-9DFED5CE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>
            <a:extLst>
              <a:ext uri="{FF2B5EF4-FFF2-40B4-BE49-F238E27FC236}">
                <a16:creationId xmlns:a16="http://schemas.microsoft.com/office/drawing/2014/main" id="{D47A20F7-B5EB-7E8E-0ED6-C90746DBF781}"/>
              </a:ext>
            </a:extLst>
          </p:cNvPr>
          <p:cNvSpPr/>
          <p:nvPr/>
        </p:nvSpPr>
        <p:spPr>
          <a:xfrm>
            <a:off x="6316394" y="912288"/>
            <a:ext cx="3727938" cy="1990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2A5CC89-B110-8C62-FA2B-8E87FDA9BBDF}"/>
              </a:ext>
            </a:extLst>
          </p:cNvPr>
          <p:cNvSpPr/>
          <p:nvPr/>
        </p:nvSpPr>
        <p:spPr>
          <a:xfrm>
            <a:off x="6207656" y="707505"/>
            <a:ext cx="3979664" cy="2672675"/>
          </a:xfrm>
          <a:prstGeom prst="rect">
            <a:avLst/>
          </a:prstGeom>
          <a:solidFill>
            <a:srgbClr val="FEF5CE"/>
          </a:solidFill>
          <a:ln w="63500"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42099A-83F4-9EC4-CD96-DF91AEF8158F}"/>
              </a:ext>
            </a:extLst>
          </p:cNvPr>
          <p:cNvSpPr txBox="1"/>
          <p:nvPr/>
        </p:nvSpPr>
        <p:spPr>
          <a:xfrm>
            <a:off x="6942950" y="898220"/>
            <a:ext cx="2486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3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Perplexity &amp; Clustering Module</a:t>
            </a:r>
            <a:endParaRPr kumimoji="1" lang="en-US" altLang="ko-Kore-KR" sz="1300" b="1" dirty="0">
              <a:solidFill>
                <a:srgbClr val="2A2A2A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FFF09C1-4A99-1821-EEFD-06B7130D97CA}"/>
              </a:ext>
            </a:extLst>
          </p:cNvPr>
          <p:cNvSpPr/>
          <p:nvPr/>
        </p:nvSpPr>
        <p:spPr>
          <a:xfrm>
            <a:off x="7105262" y="1370748"/>
            <a:ext cx="2155435" cy="178658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DBC793-7294-E5CF-9767-8308FC9B5AF0}"/>
              </a:ext>
            </a:extLst>
          </p:cNvPr>
          <p:cNvSpPr/>
          <p:nvPr/>
        </p:nvSpPr>
        <p:spPr>
          <a:xfrm>
            <a:off x="7512145" y="523888"/>
            <a:ext cx="1342035" cy="228727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9326695E-9E8B-538D-9838-DD3D9437A0BC}"/>
              </a:ext>
            </a:extLst>
          </p:cNvPr>
          <p:cNvCxnSpPr>
            <a:cxnSpLocks/>
          </p:cNvCxnSpPr>
          <p:nvPr/>
        </p:nvCxnSpPr>
        <p:spPr>
          <a:xfrm>
            <a:off x="8897510" y="3805944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[R] 74">
            <a:extLst>
              <a:ext uri="{FF2B5EF4-FFF2-40B4-BE49-F238E27FC236}">
                <a16:creationId xmlns:a16="http://schemas.microsoft.com/office/drawing/2014/main" id="{77B268E5-D431-A19E-BEB0-7DC128D1AF82}"/>
              </a:ext>
            </a:extLst>
          </p:cNvPr>
          <p:cNvCxnSpPr>
            <a:cxnSpLocks/>
          </p:cNvCxnSpPr>
          <p:nvPr/>
        </p:nvCxnSpPr>
        <p:spPr>
          <a:xfrm>
            <a:off x="7453565" y="3807056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[R] 78">
            <a:extLst>
              <a:ext uri="{FF2B5EF4-FFF2-40B4-BE49-F238E27FC236}">
                <a16:creationId xmlns:a16="http://schemas.microsoft.com/office/drawing/2014/main" id="{06659F3A-B3EF-AC69-400F-173E470E1B61}"/>
              </a:ext>
            </a:extLst>
          </p:cNvPr>
          <p:cNvCxnSpPr>
            <a:cxnSpLocks/>
          </p:cNvCxnSpPr>
          <p:nvPr/>
        </p:nvCxnSpPr>
        <p:spPr>
          <a:xfrm flipV="1">
            <a:off x="7473270" y="5355646"/>
            <a:ext cx="1456532" cy="8717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[R] 79">
            <a:extLst>
              <a:ext uri="{FF2B5EF4-FFF2-40B4-BE49-F238E27FC236}">
                <a16:creationId xmlns:a16="http://schemas.microsoft.com/office/drawing/2014/main" id="{B83A4629-1197-85FC-5C7B-E0C41080F64A}"/>
              </a:ext>
            </a:extLst>
          </p:cNvPr>
          <p:cNvCxnSpPr>
            <a:cxnSpLocks/>
          </p:cNvCxnSpPr>
          <p:nvPr/>
        </p:nvCxnSpPr>
        <p:spPr>
          <a:xfrm>
            <a:off x="8924554" y="4837744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[R] 80">
            <a:extLst>
              <a:ext uri="{FF2B5EF4-FFF2-40B4-BE49-F238E27FC236}">
                <a16:creationId xmlns:a16="http://schemas.microsoft.com/office/drawing/2014/main" id="{C3967E67-8018-510E-31A7-4751F440F8FB}"/>
              </a:ext>
            </a:extLst>
          </p:cNvPr>
          <p:cNvCxnSpPr>
            <a:cxnSpLocks/>
          </p:cNvCxnSpPr>
          <p:nvPr/>
        </p:nvCxnSpPr>
        <p:spPr>
          <a:xfrm>
            <a:off x="7484895" y="4837744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6E881-4D96-4C50-6035-15875F9719EA}"/>
              </a:ext>
            </a:extLst>
          </p:cNvPr>
          <p:cNvSpPr/>
          <p:nvPr/>
        </p:nvSpPr>
        <p:spPr>
          <a:xfrm>
            <a:off x="442913" y="1470712"/>
            <a:ext cx="2872528" cy="4885638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DA9C2E28-F570-F16A-FEDD-524388033381}"/>
              </a:ext>
            </a:extLst>
          </p:cNvPr>
          <p:cNvCxnSpPr>
            <a:cxnSpLocks/>
          </p:cNvCxnSpPr>
          <p:nvPr/>
        </p:nvCxnSpPr>
        <p:spPr>
          <a:xfrm>
            <a:off x="1160924" y="1682328"/>
            <a:ext cx="1440419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38613A05-95B6-134A-54AB-E0767B972DD1}"/>
              </a:ext>
            </a:extLst>
          </p:cNvPr>
          <p:cNvCxnSpPr>
            <a:cxnSpLocks/>
          </p:cNvCxnSpPr>
          <p:nvPr/>
        </p:nvCxnSpPr>
        <p:spPr>
          <a:xfrm>
            <a:off x="2603330" y="1675797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773084D8-890A-45C4-38F2-65DA36619580}"/>
              </a:ext>
            </a:extLst>
          </p:cNvPr>
          <p:cNvCxnSpPr>
            <a:cxnSpLocks/>
          </p:cNvCxnSpPr>
          <p:nvPr/>
        </p:nvCxnSpPr>
        <p:spPr>
          <a:xfrm>
            <a:off x="1159385" y="1680084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18B2F15-5B29-B8FB-1790-2401804A1BCE}"/>
              </a:ext>
            </a:extLst>
          </p:cNvPr>
          <p:cNvSpPr/>
          <p:nvPr/>
        </p:nvSpPr>
        <p:spPr>
          <a:xfrm>
            <a:off x="556664" y="1934273"/>
            <a:ext cx="1265650" cy="190507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EFB178A-6431-C230-9618-23A9BDA6E6E9}"/>
              </a:ext>
            </a:extLst>
          </p:cNvPr>
          <p:cNvSpPr/>
          <p:nvPr/>
        </p:nvSpPr>
        <p:spPr>
          <a:xfrm>
            <a:off x="1948925" y="1801350"/>
            <a:ext cx="1265650" cy="2198618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8" name="그래픽 37" descr="갈매기형 화살표 윤곽선">
            <a:extLst>
              <a:ext uri="{FF2B5EF4-FFF2-40B4-BE49-F238E27FC236}">
                <a16:creationId xmlns:a16="http://schemas.microsoft.com/office/drawing/2014/main" id="{3A22F6FF-3D18-A14A-0276-B37572649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377001" y="4038815"/>
            <a:ext cx="377952" cy="377952"/>
          </a:xfrm>
          <a:prstGeom prst="rect">
            <a:avLst/>
          </a:prstGeom>
        </p:spPr>
      </p:pic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4C028234-6BC6-FE1F-F248-5E9E83312432}"/>
              </a:ext>
            </a:extLst>
          </p:cNvPr>
          <p:cNvSpPr/>
          <p:nvPr/>
        </p:nvSpPr>
        <p:spPr>
          <a:xfrm>
            <a:off x="550863" y="4069814"/>
            <a:ext cx="1265650" cy="146465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DE914113-8364-75C3-6912-2FB61B4F96D9}"/>
              </a:ext>
            </a:extLst>
          </p:cNvPr>
          <p:cNvCxnSpPr>
            <a:cxnSpLocks/>
          </p:cNvCxnSpPr>
          <p:nvPr/>
        </p:nvCxnSpPr>
        <p:spPr>
          <a:xfrm>
            <a:off x="1166754" y="5735826"/>
            <a:ext cx="1439659" cy="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9E665056-251F-12AE-FF9D-B9658D04FA52}"/>
              </a:ext>
            </a:extLst>
          </p:cNvPr>
          <p:cNvCxnSpPr>
            <a:cxnSpLocks/>
          </p:cNvCxnSpPr>
          <p:nvPr/>
        </p:nvCxnSpPr>
        <p:spPr>
          <a:xfrm>
            <a:off x="2606413" y="5205857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[R] 45">
            <a:extLst>
              <a:ext uri="{FF2B5EF4-FFF2-40B4-BE49-F238E27FC236}">
                <a16:creationId xmlns:a16="http://schemas.microsoft.com/office/drawing/2014/main" id="{C4344D6B-19A0-D353-2480-AD7ADF043EA4}"/>
              </a:ext>
            </a:extLst>
          </p:cNvPr>
          <p:cNvCxnSpPr>
            <a:cxnSpLocks/>
          </p:cNvCxnSpPr>
          <p:nvPr/>
        </p:nvCxnSpPr>
        <p:spPr>
          <a:xfrm>
            <a:off x="1166754" y="5205857"/>
            <a:ext cx="0" cy="529969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그래픽 48" descr="갈매기형 화살표 윤곽선">
            <a:extLst>
              <a:ext uri="{FF2B5EF4-FFF2-40B4-BE49-F238E27FC236}">
                <a16:creationId xmlns:a16="http://schemas.microsoft.com/office/drawing/2014/main" id="{2B35F69F-5A05-F4AE-9D5A-8861E2199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748677" y="5856599"/>
            <a:ext cx="272241" cy="272241"/>
          </a:xfrm>
          <a:prstGeom prst="rect">
            <a:avLst/>
          </a:prstGeom>
        </p:spPr>
      </p:pic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C4CF5E8D-A1E6-812E-710F-53029D3C9173}"/>
              </a:ext>
            </a:extLst>
          </p:cNvPr>
          <p:cNvSpPr/>
          <p:nvPr/>
        </p:nvSpPr>
        <p:spPr>
          <a:xfrm>
            <a:off x="1356643" y="6239014"/>
            <a:ext cx="1034828" cy="401399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66781E-3685-BBD1-9E69-F9BA3CECEB31}"/>
              </a:ext>
            </a:extLst>
          </p:cNvPr>
          <p:cNvSpPr txBox="1"/>
          <p:nvPr/>
        </p:nvSpPr>
        <p:spPr>
          <a:xfrm>
            <a:off x="1466057" y="6303195"/>
            <a:ext cx="829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F2F2F2"/>
                </a:solidFill>
                <a:latin typeface="HS봄바람체 2.1" pitchFamily="2" charset="-127"/>
                <a:ea typeface="HS봄바람체 2.1" pitchFamily="2" charset="-127"/>
              </a:rPr>
              <a:t>OUTPUT</a:t>
            </a:r>
            <a:endParaRPr kumimoji="1" lang="ko-Kore-KR" altLang="en-US" sz="1200" dirty="0">
              <a:solidFill>
                <a:srgbClr val="F2F2F2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4D66D43C-2D6B-AD7E-7CF1-5E52C6CB1210}"/>
              </a:ext>
            </a:extLst>
          </p:cNvPr>
          <p:cNvSpPr/>
          <p:nvPr/>
        </p:nvSpPr>
        <p:spPr>
          <a:xfrm>
            <a:off x="1372664" y="1188570"/>
            <a:ext cx="1034828" cy="401399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985C92-DF6C-C460-4A25-DF808B17E9EB}"/>
              </a:ext>
            </a:extLst>
          </p:cNvPr>
          <p:cNvSpPr txBox="1"/>
          <p:nvPr/>
        </p:nvSpPr>
        <p:spPr>
          <a:xfrm>
            <a:off x="1543989" y="1251756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F2F2F2"/>
                </a:solidFill>
                <a:latin typeface="HS봄바람체 2.1" pitchFamily="2" charset="-127"/>
                <a:ea typeface="HS봄바람체 2.1" pitchFamily="2" charset="-127"/>
              </a:rPr>
              <a:t>INPUT</a:t>
            </a:r>
            <a:endParaRPr kumimoji="1" lang="ko-Kore-KR" altLang="en-US" sz="1200" dirty="0">
              <a:solidFill>
                <a:srgbClr val="F2F2F2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0DA91941-6ACF-5270-C8B2-504CCBD3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/>
              <a:t>2</a:t>
            </a:fld>
            <a:endParaRPr kumimoji="1" lang="ko-Kore-KR" altLang="en-US" dirty="0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184633B-6CC1-8029-A068-E4AE47F22540}"/>
              </a:ext>
            </a:extLst>
          </p:cNvPr>
          <p:cNvSpPr/>
          <p:nvPr/>
        </p:nvSpPr>
        <p:spPr>
          <a:xfrm>
            <a:off x="666274" y="2113028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IMU </a:t>
            </a:r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이동거리 추정</a:t>
            </a:r>
            <a:endParaRPr kumimoji="1" lang="ko-Kore-KR" altLang="en-US" sz="10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AFE63431-ACF8-AD1F-DA14-5456EF68B4D5}"/>
              </a:ext>
            </a:extLst>
          </p:cNvPr>
          <p:cNvSpPr/>
          <p:nvPr/>
        </p:nvSpPr>
        <p:spPr>
          <a:xfrm>
            <a:off x="666274" y="2511365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S</a:t>
            </a:r>
            <a:r>
              <a:rPr kumimoji="1" lang="en" altLang="ko-Kore-KR" sz="8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egmentation</a:t>
            </a:r>
            <a:r>
              <a:rPr kumimoji="1" lang="en" altLang="ko-Kore-KR" sz="10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마스크 추출</a:t>
            </a:r>
            <a:endParaRPr kumimoji="1" lang="ko-Kore-KR" altLang="en-US" sz="10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7ED5D87-D531-7BF1-8551-DA15AFF3C817}"/>
              </a:ext>
            </a:extLst>
          </p:cNvPr>
          <p:cNvSpPr/>
          <p:nvPr/>
        </p:nvSpPr>
        <p:spPr>
          <a:xfrm>
            <a:off x="666020" y="2920497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D</a:t>
            </a:r>
            <a:r>
              <a:rPr kumimoji="1" lang="en" altLang="ko-Kore-KR" sz="8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epth</a:t>
            </a:r>
            <a:r>
              <a:rPr kumimoji="1" lang="en" altLang="ko-Kore-KR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</a:t>
            </a:r>
            <a:endParaRPr kumimoji="1" lang="en-US" altLang="ko-KR" sz="8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객체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깊이 계산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F59708E-324D-A0A5-A6A9-A9AF59439F22}"/>
              </a:ext>
            </a:extLst>
          </p:cNvPr>
          <p:cNvSpPr/>
          <p:nvPr/>
        </p:nvSpPr>
        <p:spPr>
          <a:xfrm>
            <a:off x="668349" y="3329629"/>
            <a:ext cx="1034828" cy="34898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동적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,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정적 장애물 분류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496C2CC-245A-C045-0DFF-54D20FD8AAC0}"/>
              </a:ext>
            </a:extLst>
          </p:cNvPr>
          <p:cNvSpPr/>
          <p:nvPr/>
        </p:nvSpPr>
        <p:spPr>
          <a:xfrm>
            <a:off x="666020" y="4220435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프레임 영역화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825AA7E2-C855-CFFC-BC6E-C6264D01C1EC}"/>
              </a:ext>
            </a:extLst>
          </p:cNvPr>
          <p:cNvSpPr/>
          <p:nvPr/>
        </p:nvSpPr>
        <p:spPr>
          <a:xfrm>
            <a:off x="666020" y="4628306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객체 밀도 분석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BC0ABB6-35EC-4DE0-73BF-11B6E8F1CCDC}"/>
              </a:ext>
            </a:extLst>
          </p:cNvPr>
          <p:cNvSpPr/>
          <p:nvPr/>
        </p:nvSpPr>
        <p:spPr>
          <a:xfrm>
            <a:off x="668158" y="5038308"/>
            <a:ext cx="1034828" cy="348980"/>
          </a:xfrm>
          <a:prstGeom prst="roundRect">
            <a:avLst/>
          </a:prstGeom>
          <a:solidFill>
            <a:srgbClr val="D0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안전 보행 </a:t>
            </a:r>
            <a:endParaRPr kumimoji="1" lang="en-US" altLang="ko-KR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방향 안내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EDD84446-85EB-348A-C7F8-EF7166ED7097}"/>
              </a:ext>
            </a:extLst>
          </p:cNvPr>
          <p:cNvSpPr/>
          <p:nvPr/>
        </p:nvSpPr>
        <p:spPr>
          <a:xfrm>
            <a:off x="2070776" y="1935604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다중 </a:t>
            </a:r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전처리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</a:p>
          <a:p>
            <a:pPr algn="ctr"/>
            <a:r>
              <a:rPr kumimoji="1" lang="en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ROI </a:t>
            </a:r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워핑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9F5105D-1821-D1C6-FD49-65FE8EBB7BA9}"/>
              </a:ext>
            </a:extLst>
          </p:cNvPr>
          <p:cNvSpPr/>
          <p:nvPr/>
        </p:nvSpPr>
        <p:spPr>
          <a:xfrm>
            <a:off x="2070776" y="2335932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텍스트 후보 인식 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(</a:t>
            </a:r>
            <a:r>
              <a:rPr kumimoji="1" lang="en-US" altLang="ko-KR" sz="7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PaddleOCR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</a:t>
            </a:r>
            <a:r>
              <a:rPr kumimoji="1" lang="ko-KR" altLang="en-US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</a:t>
            </a:r>
            <a:r>
              <a:rPr kumimoji="1" lang="en-US" altLang="ko-KR" sz="7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)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4F181A8F-34FA-90FE-EF5C-BD59681DE09C}"/>
              </a:ext>
            </a:extLst>
          </p:cNvPr>
          <p:cNvSpPr/>
          <p:nvPr/>
        </p:nvSpPr>
        <p:spPr>
          <a:xfrm>
            <a:off x="2070776" y="2743073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후처리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/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필터링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45EF5C6E-B71C-7225-DED4-3EFF41BE7088}"/>
              </a:ext>
            </a:extLst>
          </p:cNvPr>
          <p:cNvSpPr/>
          <p:nvPr/>
        </p:nvSpPr>
        <p:spPr>
          <a:xfrm>
            <a:off x="2070776" y="3147142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DBSCAN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클러스터링</a:t>
            </a:r>
            <a:endParaRPr kumimoji="1" lang="ko-Kore-KR" altLang="en-US" sz="12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BCE89490-BBA1-D27F-67D9-679BB873D874}"/>
              </a:ext>
            </a:extLst>
          </p:cNvPr>
          <p:cNvSpPr/>
          <p:nvPr/>
        </p:nvSpPr>
        <p:spPr>
          <a:xfrm>
            <a:off x="2070776" y="3541709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API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및 </a:t>
            </a:r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TTS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통합 안내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6FF5060-CE4A-5D90-3873-508862070204}"/>
              </a:ext>
            </a:extLst>
          </p:cNvPr>
          <p:cNvSpPr/>
          <p:nvPr/>
        </p:nvSpPr>
        <p:spPr>
          <a:xfrm>
            <a:off x="1931670" y="4480947"/>
            <a:ext cx="1265650" cy="1035923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9538016D-D902-E77C-7352-AF7AE7860575}"/>
              </a:ext>
            </a:extLst>
          </p:cNvPr>
          <p:cNvSpPr/>
          <p:nvPr/>
        </p:nvSpPr>
        <p:spPr>
          <a:xfrm>
            <a:off x="2048945" y="5034877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방향성 </a:t>
            </a:r>
            <a:endParaRPr kumimoji="1" lang="en-US" altLang="ko-KR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  <a:p>
            <a:pPr algn="ctr"/>
            <a:r>
              <a:rPr kumimoji="1" lang="ko-KR" altLang="en-US" sz="900" dirty="0" err="1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비프음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 출력</a:t>
            </a:r>
            <a:endParaRPr kumimoji="1" lang="ko-Kore-KR" altLang="en-US" sz="9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pic>
        <p:nvPicPr>
          <p:cNvPr id="37" name="그래픽 36" descr="갈매기형 화살표 윤곽선">
            <a:extLst>
              <a:ext uri="{FF2B5EF4-FFF2-40B4-BE49-F238E27FC236}">
                <a16:creationId xmlns:a16="http://schemas.microsoft.com/office/drawing/2014/main" id="{4FEA82DE-6DD4-D416-3A90-6D252FE9A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073395" y="3843568"/>
            <a:ext cx="220078" cy="220078"/>
          </a:xfrm>
          <a:prstGeom prst="rect">
            <a:avLst/>
          </a:prstGeom>
        </p:spPr>
      </p:pic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8FC7E6EF-53CC-EE98-4D03-0206F552A3AA}"/>
              </a:ext>
            </a:extLst>
          </p:cNvPr>
          <p:cNvSpPr/>
          <p:nvPr/>
        </p:nvSpPr>
        <p:spPr>
          <a:xfrm>
            <a:off x="2043443" y="4625678"/>
            <a:ext cx="1034828" cy="348980"/>
          </a:xfrm>
          <a:prstGeom prst="roundRect">
            <a:avLst/>
          </a:prstGeom>
          <a:solidFill>
            <a:srgbClr val="E0F2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YOLO + Depth </a:t>
            </a:r>
            <a:r>
              <a:rPr kumimoji="1" lang="ko-KR" altLang="en-US" sz="900" dirty="0">
                <a:solidFill>
                  <a:srgbClr val="2A2A2A"/>
                </a:solidFill>
                <a:latin typeface="HS봄바람체 2.1" pitchFamily="2" charset="-127"/>
                <a:ea typeface="HS봄바람체 2.1" pitchFamily="2" charset="-127"/>
              </a:rPr>
              <a:t>기반 충돌 예측</a:t>
            </a:r>
            <a:endParaRPr kumimoji="1" lang="ko-Kore-KR" altLang="en-US" sz="1100" dirty="0">
              <a:solidFill>
                <a:srgbClr val="2A2A2A"/>
              </a:solidFill>
              <a:latin typeface="HS봄바람체 2.1" pitchFamily="2" charset="-127"/>
              <a:ea typeface="HS봄바람체 2.1" pitchFamily="2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53BF407-8610-204A-F87B-F59A6EE0215F}"/>
              </a:ext>
            </a:extLst>
          </p:cNvPr>
          <p:cNvSpPr/>
          <p:nvPr/>
        </p:nvSpPr>
        <p:spPr>
          <a:xfrm>
            <a:off x="7233892" y="1484041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11A511A5-48AB-DA35-8A23-97C825627D18}"/>
              </a:ext>
            </a:extLst>
          </p:cNvPr>
          <p:cNvSpPr/>
          <p:nvPr/>
        </p:nvSpPr>
        <p:spPr>
          <a:xfrm>
            <a:off x="7233892" y="2041606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F600C51F-5784-BBE8-ABC6-6EED79801CF8}"/>
              </a:ext>
            </a:extLst>
          </p:cNvPr>
          <p:cNvSpPr/>
          <p:nvPr/>
        </p:nvSpPr>
        <p:spPr>
          <a:xfrm>
            <a:off x="7233892" y="2599171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1495FC-77B9-A2FC-3AED-A84E513F3057}"/>
              </a:ext>
            </a:extLst>
          </p:cNvPr>
          <p:cNvSpPr txBox="1"/>
          <p:nvPr/>
        </p:nvSpPr>
        <p:spPr>
          <a:xfrm>
            <a:off x="7479027" y="1493508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Multi-Preprocessing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OCR Recognition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C761DF-7A1C-DC3E-EEDB-46AB83794DEF}"/>
              </a:ext>
            </a:extLst>
          </p:cNvPr>
          <p:cNvSpPr txBox="1"/>
          <p:nvPr/>
        </p:nvSpPr>
        <p:spPr>
          <a:xfrm>
            <a:off x="7479831" y="2041606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Text Message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Sentence Clustering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A02573-30A7-1570-F76E-3EE8EADCB2E4}"/>
              </a:ext>
            </a:extLst>
          </p:cNvPr>
          <p:cNvSpPr txBox="1"/>
          <p:nvPr/>
        </p:nvSpPr>
        <p:spPr>
          <a:xfrm>
            <a:off x="7462998" y="2608556"/>
            <a:ext cx="144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Depth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Direction Estimation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92E64CA-C252-7E19-72F5-28AA256C4DA7}"/>
              </a:ext>
            </a:extLst>
          </p:cNvPr>
          <p:cNvSpPr/>
          <p:nvPr/>
        </p:nvSpPr>
        <p:spPr>
          <a:xfrm>
            <a:off x="5692204" y="4053784"/>
            <a:ext cx="2052587" cy="102176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024E85C2-FF52-C686-7A84-8442A395729C}"/>
              </a:ext>
            </a:extLst>
          </p:cNvPr>
          <p:cNvSpPr/>
          <p:nvPr/>
        </p:nvSpPr>
        <p:spPr>
          <a:xfrm>
            <a:off x="5759863" y="4542724"/>
            <a:ext cx="1917267" cy="446060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70996F5-E4D0-A66A-7EC8-90F398F34393}"/>
              </a:ext>
            </a:extLst>
          </p:cNvPr>
          <p:cNvSpPr/>
          <p:nvPr/>
        </p:nvSpPr>
        <p:spPr>
          <a:xfrm>
            <a:off x="8557564" y="4057586"/>
            <a:ext cx="2052587" cy="102176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84A01D90-C73E-88F1-9508-EBADBECB7053}"/>
              </a:ext>
            </a:extLst>
          </p:cNvPr>
          <p:cNvSpPr/>
          <p:nvPr/>
        </p:nvSpPr>
        <p:spPr>
          <a:xfrm>
            <a:off x="8625223" y="4546526"/>
            <a:ext cx="1917267" cy="446060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E7229A-0E30-9BD0-EC08-8EDD2DC61F57}"/>
              </a:ext>
            </a:extLst>
          </p:cNvPr>
          <p:cNvSpPr txBox="1"/>
          <p:nvPr/>
        </p:nvSpPr>
        <p:spPr>
          <a:xfrm>
            <a:off x="5924852" y="4132621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TTS Guidance Module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4BCDC8-6AAB-E490-0574-95D5CF6DA764}"/>
              </a:ext>
            </a:extLst>
          </p:cNvPr>
          <p:cNvSpPr txBox="1"/>
          <p:nvPr/>
        </p:nvSpPr>
        <p:spPr>
          <a:xfrm>
            <a:off x="8538543" y="4109779"/>
            <a:ext cx="2090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Directional Beep Alert Module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86CA13-D715-C02F-661E-A3742974FE5E}"/>
              </a:ext>
            </a:extLst>
          </p:cNvPr>
          <p:cNvSpPr txBox="1"/>
          <p:nvPr/>
        </p:nvSpPr>
        <p:spPr>
          <a:xfrm>
            <a:off x="5874354" y="4635856"/>
            <a:ext cx="1688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Text Correction &amp; TTS</a:t>
            </a:r>
            <a:endParaRPr kumimoji="1" lang="ko-Kore-KR" altLang="en-US" sz="12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A8D5AD-852E-CCBC-BE42-7945F9683B8B}"/>
              </a:ext>
            </a:extLst>
          </p:cNvPr>
          <p:cNvSpPr txBox="1"/>
          <p:nvPr/>
        </p:nvSpPr>
        <p:spPr>
          <a:xfrm>
            <a:off x="8596245" y="4564668"/>
            <a:ext cx="1975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Dynamic Object Detection</a:t>
            </a:r>
          </a:p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Beep Alert</a:t>
            </a:r>
            <a:endParaRPr kumimoji="1" lang="ko-Kore-KR" altLang="en-US" sz="12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73" name="직선 연결선[R] 72">
            <a:extLst>
              <a:ext uri="{FF2B5EF4-FFF2-40B4-BE49-F238E27FC236}">
                <a16:creationId xmlns:a16="http://schemas.microsoft.com/office/drawing/2014/main" id="{FD6665AE-C428-8941-12DF-E86F0461CE77}"/>
              </a:ext>
            </a:extLst>
          </p:cNvPr>
          <p:cNvCxnSpPr>
            <a:cxnSpLocks/>
          </p:cNvCxnSpPr>
          <p:nvPr/>
        </p:nvCxnSpPr>
        <p:spPr>
          <a:xfrm>
            <a:off x="7440865" y="3817389"/>
            <a:ext cx="1456645" cy="0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6959A81E-A79C-6B11-538D-B304D11E6A14}"/>
              </a:ext>
            </a:extLst>
          </p:cNvPr>
          <p:cNvSpPr/>
          <p:nvPr/>
        </p:nvSpPr>
        <p:spPr>
          <a:xfrm>
            <a:off x="6647137" y="5801571"/>
            <a:ext cx="3072851" cy="742398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1EEB69-1F14-5567-C2C9-BB68DA453B4B}"/>
              </a:ext>
            </a:extLst>
          </p:cNvPr>
          <p:cNvSpPr txBox="1"/>
          <p:nvPr/>
        </p:nvSpPr>
        <p:spPr>
          <a:xfrm>
            <a:off x="7512146" y="5838973"/>
            <a:ext cx="134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Integrated Output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87" name="그래픽 86" descr="갈매기형 화살표 윤곽선">
            <a:extLst>
              <a:ext uri="{FF2B5EF4-FFF2-40B4-BE49-F238E27FC236}">
                <a16:creationId xmlns:a16="http://schemas.microsoft.com/office/drawing/2014/main" id="{4784EC7B-A789-D591-E9BC-D5F86641F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8047442" y="3475420"/>
            <a:ext cx="272241" cy="272241"/>
          </a:xfrm>
          <a:prstGeom prst="rect">
            <a:avLst/>
          </a:prstGeom>
        </p:spPr>
      </p:pic>
      <p:pic>
        <p:nvPicPr>
          <p:cNvPr id="88" name="그래픽 87" descr="갈매기형 화살표 윤곽선">
            <a:extLst>
              <a:ext uri="{FF2B5EF4-FFF2-40B4-BE49-F238E27FC236}">
                <a16:creationId xmlns:a16="http://schemas.microsoft.com/office/drawing/2014/main" id="{41A98B20-C66B-97DD-E7F0-E429D67DE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8047442" y="5447544"/>
            <a:ext cx="272241" cy="272241"/>
          </a:xfrm>
          <a:prstGeom prst="rect">
            <a:avLst/>
          </a:prstGeom>
        </p:spPr>
      </p:pic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34D21651-38EF-C714-70F6-9618AFA840EE}"/>
              </a:ext>
            </a:extLst>
          </p:cNvPr>
          <p:cNvSpPr/>
          <p:nvPr/>
        </p:nvSpPr>
        <p:spPr>
          <a:xfrm>
            <a:off x="6757560" y="6139986"/>
            <a:ext cx="2843900" cy="276999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95E2E4A-9D06-D7C4-015B-669745798DA4}"/>
              </a:ext>
            </a:extLst>
          </p:cNvPr>
          <p:cNvSpPr txBox="1"/>
          <p:nvPr/>
        </p:nvSpPr>
        <p:spPr>
          <a:xfrm>
            <a:off x="6746651" y="6169397"/>
            <a:ext cx="29097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sz="11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TTS Voice + Directional Beep Sound Output</a:t>
            </a:r>
            <a:endParaRPr kumimoji="1" lang="ko-Kore-KR" altLang="en-US" sz="11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85E21-8886-ABE2-B343-E46AA99F7DAB}"/>
              </a:ext>
            </a:extLst>
          </p:cNvPr>
          <p:cNvSpPr txBox="1"/>
          <p:nvPr/>
        </p:nvSpPr>
        <p:spPr>
          <a:xfrm>
            <a:off x="7749391" y="47223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Module</a:t>
            </a:r>
            <a:endParaRPr kumimoji="1" lang="ko-Kore-KR" altLang="en-US" sz="1200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01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FC4F-AC88-A3B1-CB32-045D5C29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8D2A505-C4C6-8E7E-000D-A239E9BD14A5}"/>
              </a:ext>
            </a:extLst>
          </p:cNvPr>
          <p:cNvSpPr/>
          <p:nvPr/>
        </p:nvSpPr>
        <p:spPr>
          <a:xfrm>
            <a:off x="2714559" y="6075494"/>
            <a:ext cx="2234907" cy="122760"/>
          </a:xfrm>
          <a:prstGeom prst="rect">
            <a:avLst/>
          </a:prstGeom>
          <a:solidFill>
            <a:srgbClr val="D6EAFB"/>
          </a:solidFill>
          <a:ln w="190500">
            <a:solidFill>
              <a:srgbClr val="D6EAF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0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B119EAF-CDDC-A57B-5A60-E9A1DF4295FA}"/>
              </a:ext>
            </a:extLst>
          </p:cNvPr>
          <p:cNvSpPr/>
          <p:nvPr/>
        </p:nvSpPr>
        <p:spPr>
          <a:xfrm flipV="1">
            <a:off x="3127055" y="5877643"/>
            <a:ext cx="1406845" cy="45719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4C716AB-F561-E31F-B514-6840A3B1B097}"/>
              </a:ext>
            </a:extLst>
          </p:cNvPr>
          <p:cNvSpPr txBox="1"/>
          <p:nvPr/>
        </p:nvSpPr>
        <p:spPr>
          <a:xfrm>
            <a:off x="2992870" y="5761298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D6EAFB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Final Integrated Output</a:t>
            </a:r>
            <a:endParaRPr kumimoji="1" lang="ko-Kore-KR" altLang="en-US" sz="1200" b="1" dirty="0">
              <a:solidFill>
                <a:srgbClr val="D6EAFB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89696E3C-C057-5229-C3D2-1F2AC9B1FE04}"/>
              </a:ext>
            </a:extLst>
          </p:cNvPr>
          <p:cNvCxnSpPr>
            <a:cxnSpLocks/>
          </p:cNvCxnSpPr>
          <p:nvPr/>
        </p:nvCxnSpPr>
        <p:spPr>
          <a:xfrm flipV="1">
            <a:off x="3099555" y="5251308"/>
            <a:ext cx="1456532" cy="8717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[R] 104">
            <a:extLst>
              <a:ext uri="{FF2B5EF4-FFF2-40B4-BE49-F238E27FC236}">
                <a16:creationId xmlns:a16="http://schemas.microsoft.com/office/drawing/2014/main" id="{654F65BA-87E6-CF1A-389B-9C6CABF3F61D}"/>
              </a:ext>
            </a:extLst>
          </p:cNvPr>
          <p:cNvCxnSpPr>
            <a:cxnSpLocks/>
          </p:cNvCxnSpPr>
          <p:nvPr/>
        </p:nvCxnSpPr>
        <p:spPr>
          <a:xfrm>
            <a:off x="4550839" y="4733406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[R] 105">
            <a:extLst>
              <a:ext uri="{FF2B5EF4-FFF2-40B4-BE49-F238E27FC236}">
                <a16:creationId xmlns:a16="http://schemas.microsoft.com/office/drawing/2014/main" id="{3D652600-B04B-D735-A1FE-3EE39232A00D}"/>
              </a:ext>
            </a:extLst>
          </p:cNvPr>
          <p:cNvCxnSpPr>
            <a:cxnSpLocks/>
          </p:cNvCxnSpPr>
          <p:nvPr/>
        </p:nvCxnSpPr>
        <p:spPr>
          <a:xfrm>
            <a:off x="3111180" y="4733406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1E64A54-EE36-E968-DD9B-CEFB388A7E92}"/>
              </a:ext>
            </a:extLst>
          </p:cNvPr>
          <p:cNvSpPr/>
          <p:nvPr/>
        </p:nvSpPr>
        <p:spPr>
          <a:xfrm>
            <a:off x="7615689" y="93009"/>
            <a:ext cx="3727938" cy="1990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DDF2CA2-7E78-2EA2-368C-AE7215E64EE5}"/>
              </a:ext>
            </a:extLst>
          </p:cNvPr>
          <p:cNvSpPr/>
          <p:nvPr/>
        </p:nvSpPr>
        <p:spPr>
          <a:xfrm>
            <a:off x="7506951" y="-111774"/>
            <a:ext cx="3979664" cy="2672675"/>
          </a:xfrm>
          <a:prstGeom prst="rect">
            <a:avLst/>
          </a:prstGeom>
          <a:solidFill>
            <a:srgbClr val="FEF5CE"/>
          </a:solidFill>
          <a:ln w="63500"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19C40-0E8D-AD67-06E1-19EC88BE8627}"/>
              </a:ext>
            </a:extLst>
          </p:cNvPr>
          <p:cNvSpPr txBox="1"/>
          <p:nvPr/>
        </p:nvSpPr>
        <p:spPr>
          <a:xfrm>
            <a:off x="8242245" y="78941"/>
            <a:ext cx="2486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3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Perplexity &amp; Clustering Module</a:t>
            </a:r>
            <a:endParaRPr kumimoji="1" lang="en-US" altLang="ko-Kore-KR" sz="1300" b="1" dirty="0">
              <a:solidFill>
                <a:srgbClr val="2A2A2A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8C5886A-8D41-22AD-0939-FDFC02E286B6}"/>
              </a:ext>
            </a:extLst>
          </p:cNvPr>
          <p:cNvSpPr/>
          <p:nvPr/>
        </p:nvSpPr>
        <p:spPr>
          <a:xfrm>
            <a:off x="8404557" y="551469"/>
            <a:ext cx="2155435" cy="178658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569934-21B6-9354-D087-EAEA7FC47537}"/>
              </a:ext>
            </a:extLst>
          </p:cNvPr>
          <p:cNvSpPr/>
          <p:nvPr/>
        </p:nvSpPr>
        <p:spPr>
          <a:xfrm>
            <a:off x="8811440" y="-295391"/>
            <a:ext cx="1342035" cy="228727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93E672BA-469F-0F30-3813-6072AF6A30FE}"/>
              </a:ext>
            </a:extLst>
          </p:cNvPr>
          <p:cNvCxnSpPr>
            <a:cxnSpLocks/>
          </p:cNvCxnSpPr>
          <p:nvPr/>
        </p:nvCxnSpPr>
        <p:spPr>
          <a:xfrm>
            <a:off x="10196805" y="2986665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[R] 74">
            <a:extLst>
              <a:ext uri="{FF2B5EF4-FFF2-40B4-BE49-F238E27FC236}">
                <a16:creationId xmlns:a16="http://schemas.microsoft.com/office/drawing/2014/main" id="{9E221545-3688-1368-CE85-26F45FA284B1}"/>
              </a:ext>
            </a:extLst>
          </p:cNvPr>
          <p:cNvCxnSpPr>
            <a:cxnSpLocks/>
          </p:cNvCxnSpPr>
          <p:nvPr/>
        </p:nvCxnSpPr>
        <p:spPr>
          <a:xfrm>
            <a:off x="8752860" y="2987777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[R] 78">
            <a:extLst>
              <a:ext uri="{FF2B5EF4-FFF2-40B4-BE49-F238E27FC236}">
                <a16:creationId xmlns:a16="http://schemas.microsoft.com/office/drawing/2014/main" id="{B7C74E7B-96A1-3273-461E-8FA059800986}"/>
              </a:ext>
            </a:extLst>
          </p:cNvPr>
          <p:cNvCxnSpPr>
            <a:cxnSpLocks/>
          </p:cNvCxnSpPr>
          <p:nvPr/>
        </p:nvCxnSpPr>
        <p:spPr>
          <a:xfrm flipV="1">
            <a:off x="8772565" y="4536367"/>
            <a:ext cx="1456532" cy="8717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[R] 79">
            <a:extLst>
              <a:ext uri="{FF2B5EF4-FFF2-40B4-BE49-F238E27FC236}">
                <a16:creationId xmlns:a16="http://schemas.microsoft.com/office/drawing/2014/main" id="{3DA84893-9060-FDE0-1F61-5D0ACFCC1F19}"/>
              </a:ext>
            </a:extLst>
          </p:cNvPr>
          <p:cNvCxnSpPr>
            <a:cxnSpLocks/>
          </p:cNvCxnSpPr>
          <p:nvPr/>
        </p:nvCxnSpPr>
        <p:spPr>
          <a:xfrm>
            <a:off x="10223849" y="4018465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[R] 80">
            <a:extLst>
              <a:ext uri="{FF2B5EF4-FFF2-40B4-BE49-F238E27FC236}">
                <a16:creationId xmlns:a16="http://schemas.microsoft.com/office/drawing/2014/main" id="{DC1171D4-0304-C406-5E6D-D0F4FDC39399}"/>
              </a:ext>
            </a:extLst>
          </p:cNvPr>
          <p:cNvCxnSpPr>
            <a:cxnSpLocks/>
          </p:cNvCxnSpPr>
          <p:nvPr/>
        </p:nvCxnSpPr>
        <p:spPr>
          <a:xfrm>
            <a:off x="8784190" y="4018465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68D62E97-8D07-A986-6067-A347B7A2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/>
              <a:t>3</a:t>
            </a:fld>
            <a:endParaRPr kumimoji="1" lang="ko-Kore-KR" altLang="en-US" dirty="0"/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0EEFB77-285F-B200-481C-F6B43F78DC1B}"/>
              </a:ext>
            </a:extLst>
          </p:cNvPr>
          <p:cNvSpPr/>
          <p:nvPr/>
        </p:nvSpPr>
        <p:spPr>
          <a:xfrm>
            <a:off x="8533187" y="664762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A7F8A0E6-6EE9-A517-AAC6-77B7602E252A}"/>
              </a:ext>
            </a:extLst>
          </p:cNvPr>
          <p:cNvSpPr/>
          <p:nvPr/>
        </p:nvSpPr>
        <p:spPr>
          <a:xfrm>
            <a:off x="8533187" y="1222327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E655DDFA-D272-64F7-1DCA-F108AEF61E8E}"/>
              </a:ext>
            </a:extLst>
          </p:cNvPr>
          <p:cNvSpPr/>
          <p:nvPr/>
        </p:nvSpPr>
        <p:spPr>
          <a:xfrm>
            <a:off x="8533187" y="1779892"/>
            <a:ext cx="1917267" cy="4460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708889-9770-FE95-F1A3-94239B6BAA2D}"/>
              </a:ext>
            </a:extLst>
          </p:cNvPr>
          <p:cNvSpPr txBox="1"/>
          <p:nvPr/>
        </p:nvSpPr>
        <p:spPr>
          <a:xfrm>
            <a:off x="8778322" y="674229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Multi-Preprocessing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OCR Recognition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114DB5-11FF-F39C-DB2F-5A60DEB929DA}"/>
              </a:ext>
            </a:extLst>
          </p:cNvPr>
          <p:cNvSpPr txBox="1"/>
          <p:nvPr/>
        </p:nvSpPr>
        <p:spPr>
          <a:xfrm>
            <a:off x="8779126" y="1222327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Text Message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Sentence Clustering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EBE5BF-5602-F9AD-F008-ADB9E11AA49D}"/>
              </a:ext>
            </a:extLst>
          </p:cNvPr>
          <p:cNvSpPr txBox="1"/>
          <p:nvPr/>
        </p:nvSpPr>
        <p:spPr>
          <a:xfrm>
            <a:off x="8762293" y="1789277"/>
            <a:ext cx="144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Depth</a:t>
            </a:r>
          </a:p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Apple SD Gothic Neo UltraLight" panose="02000300000000000000" pitchFamily="2" charset="-127"/>
                <a:ea typeface="Apple SD Gothic Neo UltraLight" panose="02000300000000000000" pitchFamily="2" charset="-127"/>
              </a:rPr>
              <a:t>Direction Estimation</a:t>
            </a:r>
            <a:endParaRPr kumimoji="1" lang="ko-Kore-KR" altLang="en-US" sz="1200" dirty="0">
              <a:solidFill>
                <a:srgbClr val="2A2A2A"/>
              </a:solidFill>
              <a:latin typeface="Apple SD Gothic Neo UltraLight" panose="02000300000000000000" pitchFamily="2" charset="-127"/>
              <a:ea typeface="Apple SD Gothic Neo UltraLight" panose="02000300000000000000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2B1EAD6-4E6A-5185-CF4A-3216C875F9F3}"/>
              </a:ext>
            </a:extLst>
          </p:cNvPr>
          <p:cNvSpPr/>
          <p:nvPr/>
        </p:nvSpPr>
        <p:spPr>
          <a:xfrm>
            <a:off x="6991499" y="3234505"/>
            <a:ext cx="2052587" cy="102176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C70803DA-2D90-DF5C-DB68-3ACAEE78DFEC}"/>
              </a:ext>
            </a:extLst>
          </p:cNvPr>
          <p:cNvSpPr/>
          <p:nvPr/>
        </p:nvSpPr>
        <p:spPr>
          <a:xfrm>
            <a:off x="7059158" y="3723445"/>
            <a:ext cx="1917267" cy="446060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9E3BD4E-C266-8E67-B3D6-4E69556A9674}"/>
              </a:ext>
            </a:extLst>
          </p:cNvPr>
          <p:cNvSpPr/>
          <p:nvPr/>
        </p:nvSpPr>
        <p:spPr>
          <a:xfrm>
            <a:off x="9856859" y="3238307"/>
            <a:ext cx="2052587" cy="1021768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1D653FE5-F8B4-B979-77C3-2C3960CE7D74}"/>
              </a:ext>
            </a:extLst>
          </p:cNvPr>
          <p:cNvSpPr/>
          <p:nvPr/>
        </p:nvSpPr>
        <p:spPr>
          <a:xfrm>
            <a:off x="9924518" y="3727247"/>
            <a:ext cx="1917267" cy="446060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62975A-ECA2-A6CD-E8E5-3038CE9628A7}"/>
              </a:ext>
            </a:extLst>
          </p:cNvPr>
          <p:cNvSpPr txBox="1"/>
          <p:nvPr/>
        </p:nvSpPr>
        <p:spPr>
          <a:xfrm>
            <a:off x="7224147" y="3313342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TTS Guidance Module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75F27-3BAE-98CF-0CE4-62149D558775}"/>
              </a:ext>
            </a:extLst>
          </p:cNvPr>
          <p:cNvSpPr txBox="1"/>
          <p:nvPr/>
        </p:nvSpPr>
        <p:spPr>
          <a:xfrm>
            <a:off x="9837838" y="3290500"/>
            <a:ext cx="2090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Directional Beep Alert Module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679617-2167-7551-B40F-7D42AA001DB8}"/>
              </a:ext>
            </a:extLst>
          </p:cNvPr>
          <p:cNvSpPr txBox="1"/>
          <p:nvPr/>
        </p:nvSpPr>
        <p:spPr>
          <a:xfrm>
            <a:off x="7173649" y="3816577"/>
            <a:ext cx="1688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Text Correction &amp; TTS</a:t>
            </a:r>
            <a:endParaRPr kumimoji="1" lang="ko-Kore-KR" altLang="en-US" sz="12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2CD4C3-13C8-CF84-8258-DF68F071F8AC}"/>
              </a:ext>
            </a:extLst>
          </p:cNvPr>
          <p:cNvSpPr txBox="1"/>
          <p:nvPr/>
        </p:nvSpPr>
        <p:spPr>
          <a:xfrm>
            <a:off x="9895540" y="3745389"/>
            <a:ext cx="1975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Dynamic Object Detection</a:t>
            </a:r>
          </a:p>
          <a:p>
            <a:pPr algn="ctr"/>
            <a:r>
              <a:rPr kumimoji="1" lang="en-US" altLang="ko-Kore-KR" sz="12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Beep Alert</a:t>
            </a:r>
            <a:endParaRPr kumimoji="1" lang="ko-Kore-KR" altLang="en-US" sz="12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73" name="직선 연결선[R] 72">
            <a:extLst>
              <a:ext uri="{FF2B5EF4-FFF2-40B4-BE49-F238E27FC236}">
                <a16:creationId xmlns:a16="http://schemas.microsoft.com/office/drawing/2014/main" id="{85A80F4B-6FD6-F7FA-A650-CAB43A361949}"/>
              </a:ext>
            </a:extLst>
          </p:cNvPr>
          <p:cNvCxnSpPr>
            <a:cxnSpLocks/>
          </p:cNvCxnSpPr>
          <p:nvPr/>
        </p:nvCxnSpPr>
        <p:spPr>
          <a:xfrm>
            <a:off x="8740160" y="2998110"/>
            <a:ext cx="1456645" cy="0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EE137256-8C28-9FB8-8E2A-D35B404B5E34}"/>
              </a:ext>
            </a:extLst>
          </p:cNvPr>
          <p:cNvSpPr/>
          <p:nvPr/>
        </p:nvSpPr>
        <p:spPr>
          <a:xfrm>
            <a:off x="7946432" y="4982292"/>
            <a:ext cx="3072851" cy="742398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6B0C52-BE55-B6CB-AD52-D15DAC4E9674}"/>
              </a:ext>
            </a:extLst>
          </p:cNvPr>
          <p:cNvSpPr txBox="1"/>
          <p:nvPr/>
        </p:nvSpPr>
        <p:spPr>
          <a:xfrm>
            <a:off x="8811441" y="5019694"/>
            <a:ext cx="134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Integrated Output</a:t>
            </a:r>
            <a:endParaRPr kumimoji="1" lang="ko-Kore-KR" altLang="en-US" sz="1200" b="1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pic>
        <p:nvPicPr>
          <p:cNvPr id="87" name="그래픽 86" descr="갈매기형 화살표 윤곽선">
            <a:extLst>
              <a:ext uri="{FF2B5EF4-FFF2-40B4-BE49-F238E27FC236}">
                <a16:creationId xmlns:a16="http://schemas.microsoft.com/office/drawing/2014/main" id="{9F4F3B16-B172-AF87-B7CD-8B006A418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346737" y="2656141"/>
            <a:ext cx="272241" cy="272241"/>
          </a:xfrm>
          <a:prstGeom prst="rect">
            <a:avLst/>
          </a:prstGeom>
        </p:spPr>
      </p:pic>
      <p:pic>
        <p:nvPicPr>
          <p:cNvPr id="88" name="그래픽 87" descr="갈매기형 화살표 윤곽선">
            <a:extLst>
              <a:ext uri="{FF2B5EF4-FFF2-40B4-BE49-F238E27FC236}">
                <a16:creationId xmlns:a16="http://schemas.microsoft.com/office/drawing/2014/main" id="{12D1DF7A-8A65-C1A2-3787-2B7EDB91B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9346737" y="4628265"/>
            <a:ext cx="272241" cy="272241"/>
          </a:xfrm>
          <a:prstGeom prst="rect">
            <a:avLst/>
          </a:prstGeom>
        </p:spPr>
      </p:pic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43698670-EAE3-2C6B-2323-4341053C3F4D}"/>
              </a:ext>
            </a:extLst>
          </p:cNvPr>
          <p:cNvSpPr/>
          <p:nvPr/>
        </p:nvSpPr>
        <p:spPr>
          <a:xfrm>
            <a:off x="8056855" y="5320707"/>
            <a:ext cx="2843900" cy="276999"/>
          </a:xfrm>
          <a:prstGeom prst="roundRect">
            <a:avLst/>
          </a:prstGeom>
          <a:solidFill>
            <a:srgbClr val="B9D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E1964B-BE73-4F45-6888-1E61E88976AE}"/>
              </a:ext>
            </a:extLst>
          </p:cNvPr>
          <p:cNvSpPr txBox="1"/>
          <p:nvPr/>
        </p:nvSpPr>
        <p:spPr>
          <a:xfrm>
            <a:off x="8045946" y="5350118"/>
            <a:ext cx="29097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sz="1100" b="1" dirty="0">
                <a:solidFill>
                  <a:srgbClr val="2A2A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TTS Voice + Directional Beep Sound Output</a:t>
            </a:r>
            <a:endParaRPr kumimoji="1" lang="ko-Kore-KR" altLang="en-US" sz="1100" b="1" dirty="0">
              <a:solidFill>
                <a:srgbClr val="2A2A2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39092-28AA-41EB-7A5D-72B06B01ADAE}"/>
              </a:ext>
            </a:extLst>
          </p:cNvPr>
          <p:cNvSpPr txBox="1"/>
          <p:nvPr/>
        </p:nvSpPr>
        <p:spPr>
          <a:xfrm>
            <a:off x="9048686" y="-34704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solidFill>
                  <a:srgbClr val="FEF5CE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Module</a:t>
            </a:r>
            <a:endParaRPr kumimoji="1" lang="ko-Kore-KR" altLang="en-US" sz="1200" dirty="0">
              <a:solidFill>
                <a:srgbClr val="FEF5CE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C74008-9804-68D2-D639-771D572E874D}"/>
              </a:ext>
            </a:extLst>
          </p:cNvPr>
          <p:cNvSpPr/>
          <p:nvPr/>
        </p:nvSpPr>
        <p:spPr>
          <a:xfrm>
            <a:off x="2711252" y="527186"/>
            <a:ext cx="2234907" cy="122760"/>
          </a:xfrm>
          <a:prstGeom prst="rect">
            <a:avLst/>
          </a:prstGeom>
          <a:solidFill>
            <a:srgbClr val="D6EAFB"/>
          </a:solidFill>
          <a:ln w="190500">
            <a:solidFill>
              <a:srgbClr val="D6EAF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RealSense RGB + Depth Input</a:t>
            </a:r>
            <a:endParaRPr kumimoji="1" lang="ko-Kore-KR" altLang="en-US" sz="10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5C936D3-40CF-9DDE-C41E-3270E6AA1BDC}"/>
              </a:ext>
            </a:extLst>
          </p:cNvPr>
          <p:cNvSpPr/>
          <p:nvPr/>
        </p:nvSpPr>
        <p:spPr>
          <a:xfrm flipV="1">
            <a:off x="3518668" y="324729"/>
            <a:ext cx="620077" cy="45719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D66918-3844-9509-C6E6-F90F0A152019}"/>
              </a:ext>
            </a:extLst>
          </p:cNvPr>
          <p:cNvSpPr txBox="1"/>
          <p:nvPr/>
        </p:nvSpPr>
        <p:spPr>
          <a:xfrm>
            <a:off x="3546437" y="225425"/>
            <a:ext cx="574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D6EAFB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INPUT</a:t>
            </a:r>
            <a:endParaRPr kumimoji="1" lang="ko-Kore-KR" altLang="en-US" sz="1050" dirty="0">
              <a:solidFill>
                <a:srgbClr val="D6EAFB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57D402-FD9E-5FA7-3329-9CF76818816B}"/>
              </a:ext>
            </a:extLst>
          </p:cNvPr>
          <p:cNvSpPr/>
          <p:nvPr/>
        </p:nvSpPr>
        <p:spPr>
          <a:xfrm>
            <a:off x="2718848" y="1263764"/>
            <a:ext cx="2227311" cy="1678015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8FE34BC-6C02-A348-5CF4-A550CC2E3E1B}"/>
              </a:ext>
            </a:extLst>
          </p:cNvPr>
          <p:cNvSpPr/>
          <p:nvPr/>
        </p:nvSpPr>
        <p:spPr>
          <a:xfrm>
            <a:off x="2744591" y="1300865"/>
            <a:ext cx="2185622" cy="272243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F1643FE-ED4C-4360-C067-83515875B6FF}"/>
              </a:ext>
            </a:extLst>
          </p:cNvPr>
          <p:cNvSpPr/>
          <p:nvPr/>
        </p:nvSpPr>
        <p:spPr>
          <a:xfrm>
            <a:off x="2791810" y="1992764"/>
            <a:ext cx="2091394" cy="253783"/>
          </a:xfrm>
          <a:prstGeom prst="roundRect">
            <a:avLst/>
          </a:prstGeom>
          <a:solidFill>
            <a:srgbClr val="FDD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E34E2F-7762-0261-86DC-7C21D455090B}"/>
              </a:ext>
            </a:extLst>
          </p:cNvPr>
          <p:cNvSpPr/>
          <p:nvPr/>
        </p:nvSpPr>
        <p:spPr>
          <a:xfrm>
            <a:off x="5607201" y="1452722"/>
            <a:ext cx="2052587" cy="438695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699E92C-DFD2-3624-2D63-26BA38CCA151}"/>
              </a:ext>
            </a:extLst>
          </p:cNvPr>
          <p:cNvSpPr/>
          <p:nvPr/>
        </p:nvSpPr>
        <p:spPr>
          <a:xfrm>
            <a:off x="5587797" y="1445357"/>
            <a:ext cx="2091394" cy="446060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AE0DA-B96B-FB06-CDA7-27796A11B178}"/>
              </a:ext>
            </a:extLst>
          </p:cNvPr>
          <p:cNvSpPr txBox="1"/>
          <p:nvPr/>
        </p:nvSpPr>
        <p:spPr>
          <a:xfrm>
            <a:off x="2731045" y="1314305"/>
            <a:ext cx="22092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Perception &amp; Clustering Module</a:t>
            </a:r>
            <a:endParaRPr kumimoji="1" lang="ko-Kore-KR" altLang="en-US" sz="1050" dirty="0"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849CAB-183F-7836-9884-9D930931796F}"/>
              </a:ext>
            </a:extLst>
          </p:cNvPr>
          <p:cNvSpPr txBox="1"/>
          <p:nvPr/>
        </p:nvSpPr>
        <p:spPr>
          <a:xfrm>
            <a:off x="2940931" y="1992987"/>
            <a:ext cx="18405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Multi-Preprocessing OCR</a:t>
            </a:r>
            <a:endParaRPr kumimoji="1" lang="ko-Kore-KR" altLang="en-US" sz="105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33A17C26-E3B7-1FA5-C139-E897B34E39C5}"/>
              </a:ext>
            </a:extLst>
          </p:cNvPr>
          <p:cNvCxnSpPr>
            <a:cxnSpLocks/>
          </p:cNvCxnSpPr>
          <p:nvPr/>
        </p:nvCxnSpPr>
        <p:spPr>
          <a:xfrm>
            <a:off x="4556200" y="3632535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642C2D6A-3346-7BE2-9F23-3D2737095C05}"/>
              </a:ext>
            </a:extLst>
          </p:cNvPr>
          <p:cNvCxnSpPr>
            <a:cxnSpLocks/>
          </p:cNvCxnSpPr>
          <p:nvPr/>
        </p:nvCxnSpPr>
        <p:spPr>
          <a:xfrm>
            <a:off x="3112255" y="3633647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894B4FAD-4505-81EE-F729-9ECDCFB109E3}"/>
              </a:ext>
            </a:extLst>
          </p:cNvPr>
          <p:cNvCxnSpPr>
            <a:cxnSpLocks/>
          </p:cNvCxnSpPr>
          <p:nvPr/>
        </p:nvCxnSpPr>
        <p:spPr>
          <a:xfrm>
            <a:off x="3099555" y="3643980"/>
            <a:ext cx="1456645" cy="0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DE5C56B-99EF-10AD-1912-D9B67ECC1320}"/>
              </a:ext>
            </a:extLst>
          </p:cNvPr>
          <p:cNvSpPr/>
          <p:nvPr/>
        </p:nvSpPr>
        <p:spPr>
          <a:xfrm>
            <a:off x="1608219" y="3889799"/>
            <a:ext cx="2052587" cy="1088232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D9C8F4D7-907F-C6CF-C85C-7CD98793CA74}"/>
              </a:ext>
            </a:extLst>
          </p:cNvPr>
          <p:cNvSpPr/>
          <p:nvPr/>
        </p:nvSpPr>
        <p:spPr>
          <a:xfrm>
            <a:off x="1675878" y="4378739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57492B-A92E-FB3B-BDA6-5EF84890D1CC}"/>
              </a:ext>
            </a:extLst>
          </p:cNvPr>
          <p:cNvSpPr txBox="1"/>
          <p:nvPr/>
        </p:nvSpPr>
        <p:spPr>
          <a:xfrm>
            <a:off x="1840864" y="3889799"/>
            <a:ext cx="158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TTS Guidance Module</a:t>
            </a:r>
            <a:endParaRPr kumimoji="1" lang="ko-Kore-KR" altLang="en-US" sz="12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5D8A7981-2511-2585-E318-3FAD692663DF}"/>
              </a:ext>
            </a:extLst>
          </p:cNvPr>
          <p:cNvSpPr/>
          <p:nvPr/>
        </p:nvSpPr>
        <p:spPr>
          <a:xfrm>
            <a:off x="2791810" y="2316033"/>
            <a:ext cx="2091394" cy="253783"/>
          </a:xfrm>
          <a:prstGeom prst="roundRect">
            <a:avLst/>
          </a:prstGeom>
          <a:solidFill>
            <a:srgbClr val="FDD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A2BB11-E664-7AEE-C2A7-E36145032003}"/>
              </a:ext>
            </a:extLst>
          </p:cNvPr>
          <p:cNvSpPr txBox="1"/>
          <p:nvPr/>
        </p:nvSpPr>
        <p:spPr>
          <a:xfrm>
            <a:off x="2731845" y="2325384"/>
            <a:ext cx="2207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Sentence Clustering (DBSCAN)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B384ACC9-18F5-6680-879D-82A46D015698}"/>
              </a:ext>
            </a:extLst>
          </p:cNvPr>
          <p:cNvSpPr/>
          <p:nvPr/>
        </p:nvSpPr>
        <p:spPr>
          <a:xfrm>
            <a:off x="2791810" y="2628214"/>
            <a:ext cx="2091394" cy="253783"/>
          </a:xfrm>
          <a:prstGeom prst="roundRect">
            <a:avLst/>
          </a:prstGeom>
          <a:solidFill>
            <a:srgbClr val="FDD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AD4924-4C50-AC2C-514C-428848B643CB}"/>
              </a:ext>
            </a:extLst>
          </p:cNvPr>
          <p:cNvSpPr txBox="1"/>
          <p:nvPr/>
        </p:nvSpPr>
        <p:spPr>
          <a:xfrm>
            <a:off x="2783385" y="2628214"/>
            <a:ext cx="20906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Depth &amp; Direction Estimation</a:t>
            </a:r>
            <a:endParaRPr kumimoji="1" lang="ko-Kore-KR" altLang="en-US" sz="105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pic>
        <p:nvPicPr>
          <p:cNvPr id="78" name="그래픽 77" descr="왼쪽 화살표가 있는 원 윤곽선">
            <a:extLst>
              <a:ext uri="{FF2B5EF4-FFF2-40B4-BE49-F238E27FC236}">
                <a16:creationId xmlns:a16="http://schemas.microsoft.com/office/drawing/2014/main" id="{B2177D87-A253-778A-CF1C-3C490631F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996453" y="824715"/>
            <a:ext cx="273228" cy="27322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FD6A75C-06C8-DADE-A2C5-D58D2D4D0EAA}"/>
              </a:ext>
            </a:extLst>
          </p:cNvPr>
          <p:cNvSpPr txBox="1"/>
          <p:nvPr/>
        </p:nvSpPr>
        <p:spPr>
          <a:xfrm rot="16200000">
            <a:off x="3621336" y="782004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pic>
        <p:nvPicPr>
          <p:cNvPr id="25" name="그래픽 24" descr="갈매기형 화살표 윤곽선">
            <a:extLst>
              <a:ext uri="{FF2B5EF4-FFF2-40B4-BE49-F238E27FC236}">
                <a16:creationId xmlns:a16="http://schemas.microsoft.com/office/drawing/2014/main" id="{1561B220-786C-13C9-C5C6-F1D7CC2291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3699552" y="1650330"/>
            <a:ext cx="272241" cy="272241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35FCA751-63DE-CD26-45F5-C7E23CF5D984}"/>
              </a:ext>
            </a:extLst>
          </p:cNvPr>
          <p:cNvSpPr txBox="1"/>
          <p:nvPr/>
        </p:nvSpPr>
        <p:spPr>
          <a:xfrm rot="16200000">
            <a:off x="3619076" y="3151698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DD100B0-4913-D442-39FD-BB2551CE1D2B}"/>
              </a:ext>
            </a:extLst>
          </p:cNvPr>
          <p:cNvSpPr txBox="1"/>
          <p:nvPr/>
        </p:nvSpPr>
        <p:spPr>
          <a:xfrm>
            <a:off x="2036759" y="4391467"/>
            <a:ext cx="11641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Text Correction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F2FCA38A-F957-88C7-B870-577A6E3466F9}"/>
              </a:ext>
            </a:extLst>
          </p:cNvPr>
          <p:cNvSpPr/>
          <p:nvPr/>
        </p:nvSpPr>
        <p:spPr>
          <a:xfrm>
            <a:off x="1669980" y="4702779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89B9C19-0980-ED10-E321-AA5172A69848}"/>
              </a:ext>
            </a:extLst>
          </p:cNvPr>
          <p:cNvSpPr/>
          <p:nvPr/>
        </p:nvSpPr>
        <p:spPr>
          <a:xfrm>
            <a:off x="4008286" y="3870602"/>
            <a:ext cx="2052587" cy="1088232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1EC4D113-9C0D-7446-410B-E908FD7293CA}"/>
              </a:ext>
            </a:extLst>
          </p:cNvPr>
          <p:cNvSpPr/>
          <p:nvPr/>
        </p:nvSpPr>
        <p:spPr>
          <a:xfrm>
            <a:off x="4075945" y="4359542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BD0F2AE-718E-4C6B-09E8-3699942102DA}"/>
              </a:ext>
            </a:extLst>
          </p:cNvPr>
          <p:cNvSpPr txBox="1"/>
          <p:nvPr/>
        </p:nvSpPr>
        <p:spPr>
          <a:xfrm>
            <a:off x="4240931" y="3870602"/>
            <a:ext cx="158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Directional Beep Alert Module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01114-E79E-D6F2-DB7A-BCBE04145356}"/>
              </a:ext>
            </a:extLst>
          </p:cNvPr>
          <p:cNvSpPr txBox="1"/>
          <p:nvPr/>
        </p:nvSpPr>
        <p:spPr>
          <a:xfrm>
            <a:off x="4367476" y="4367329"/>
            <a:ext cx="13821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YOLO Dynamic Obj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9BDCD138-F998-4C50-ED28-69FD6071033B}"/>
              </a:ext>
            </a:extLst>
          </p:cNvPr>
          <p:cNvSpPr/>
          <p:nvPr/>
        </p:nvSpPr>
        <p:spPr>
          <a:xfrm>
            <a:off x="4070047" y="4683582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4EB68FF-3531-4BBB-9B73-E048805DFC0A}"/>
              </a:ext>
            </a:extLst>
          </p:cNvPr>
          <p:cNvSpPr txBox="1"/>
          <p:nvPr/>
        </p:nvSpPr>
        <p:spPr>
          <a:xfrm>
            <a:off x="2401902" y="4713446"/>
            <a:ext cx="4235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TTS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64D3BAC-3147-9D0D-C33F-EC145128F5AA}"/>
              </a:ext>
            </a:extLst>
          </p:cNvPr>
          <p:cNvSpPr txBox="1"/>
          <p:nvPr/>
        </p:nvSpPr>
        <p:spPr>
          <a:xfrm>
            <a:off x="4422614" y="4680772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Directional Beep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6747F37-E48D-5451-2667-14DDC8572A5A}"/>
              </a:ext>
            </a:extLst>
          </p:cNvPr>
          <p:cNvSpPr txBox="1"/>
          <p:nvPr/>
        </p:nvSpPr>
        <p:spPr>
          <a:xfrm rot="16200000">
            <a:off x="3621758" y="5334598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DAF0A0C-5B9A-C562-DC85-8BAB0DDA5E99}"/>
              </a:ext>
            </a:extLst>
          </p:cNvPr>
          <p:cNvSpPr txBox="1"/>
          <p:nvPr/>
        </p:nvSpPr>
        <p:spPr>
          <a:xfrm>
            <a:off x="2654137" y="6012581"/>
            <a:ext cx="23535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sz="11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TTS voice + Directional Beep Mix</a:t>
            </a:r>
            <a:endParaRPr kumimoji="1" lang="ko-Kore-KR" altLang="en-US" sz="11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961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C19A0-D322-DBD3-1109-641A4863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90574CB-D1EC-54DC-58EC-D901DCF2EB56}"/>
              </a:ext>
            </a:extLst>
          </p:cNvPr>
          <p:cNvSpPr/>
          <p:nvPr/>
        </p:nvSpPr>
        <p:spPr>
          <a:xfrm>
            <a:off x="2714559" y="6075494"/>
            <a:ext cx="2234907" cy="122760"/>
          </a:xfrm>
          <a:prstGeom prst="rect">
            <a:avLst/>
          </a:prstGeom>
          <a:solidFill>
            <a:srgbClr val="D6EAFB"/>
          </a:solidFill>
          <a:ln w="190500">
            <a:solidFill>
              <a:srgbClr val="D6EAF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0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DBFFDED-A19B-1469-E846-7AC1E58F69BC}"/>
              </a:ext>
            </a:extLst>
          </p:cNvPr>
          <p:cNvSpPr/>
          <p:nvPr/>
        </p:nvSpPr>
        <p:spPr>
          <a:xfrm flipV="1">
            <a:off x="3127055" y="5877643"/>
            <a:ext cx="1406845" cy="45719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B1C500-000F-059B-A473-DD2F92FDAB3A}"/>
              </a:ext>
            </a:extLst>
          </p:cNvPr>
          <p:cNvSpPr txBox="1"/>
          <p:nvPr/>
        </p:nvSpPr>
        <p:spPr>
          <a:xfrm>
            <a:off x="2992870" y="5761298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200" b="1" dirty="0">
                <a:solidFill>
                  <a:srgbClr val="D6EAFB"/>
                </a:solidFill>
                <a:latin typeface="APPLE SD GOTHIC NEO THIN" panose="02000300000000000000" pitchFamily="2" charset="-127"/>
                <a:ea typeface="APPLE SD GOTHIC NEO THIN" panose="02000300000000000000" pitchFamily="2" charset="-127"/>
              </a:rPr>
              <a:t>Final Integrated Output</a:t>
            </a:r>
            <a:endParaRPr kumimoji="1" lang="ko-Kore-KR" altLang="en-US" sz="1200" b="1" dirty="0">
              <a:solidFill>
                <a:srgbClr val="D6EAFB"/>
              </a:solidFill>
              <a:latin typeface="APPLE SD GOTHIC NEO THIN" panose="02000300000000000000" pitchFamily="2" charset="-127"/>
              <a:ea typeface="APPLE SD GOTHIC NEO THIN" panose="02000300000000000000" pitchFamily="2" charset="-127"/>
            </a:endParaRPr>
          </a:p>
        </p:txBody>
      </p: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2C72ED75-7AB5-FD6A-20F9-5B662D317296}"/>
              </a:ext>
            </a:extLst>
          </p:cNvPr>
          <p:cNvCxnSpPr>
            <a:cxnSpLocks/>
          </p:cNvCxnSpPr>
          <p:nvPr/>
        </p:nvCxnSpPr>
        <p:spPr>
          <a:xfrm flipV="1">
            <a:off x="3099555" y="5251308"/>
            <a:ext cx="1456532" cy="8717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[R] 104">
            <a:extLst>
              <a:ext uri="{FF2B5EF4-FFF2-40B4-BE49-F238E27FC236}">
                <a16:creationId xmlns:a16="http://schemas.microsoft.com/office/drawing/2014/main" id="{33F2CD60-2205-E23D-E399-58FA58A621B8}"/>
              </a:ext>
            </a:extLst>
          </p:cNvPr>
          <p:cNvCxnSpPr>
            <a:cxnSpLocks/>
          </p:cNvCxnSpPr>
          <p:nvPr/>
        </p:nvCxnSpPr>
        <p:spPr>
          <a:xfrm>
            <a:off x="4550839" y="4733406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[R] 105">
            <a:extLst>
              <a:ext uri="{FF2B5EF4-FFF2-40B4-BE49-F238E27FC236}">
                <a16:creationId xmlns:a16="http://schemas.microsoft.com/office/drawing/2014/main" id="{2AB04D0D-B2E8-D0F9-8494-AF0510056B2A}"/>
              </a:ext>
            </a:extLst>
          </p:cNvPr>
          <p:cNvCxnSpPr>
            <a:cxnSpLocks/>
          </p:cNvCxnSpPr>
          <p:nvPr/>
        </p:nvCxnSpPr>
        <p:spPr>
          <a:xfrm>
            <a:off x="3111180" y="4733406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3AE355DB-F90D-B053-25FC-5C9F8EC3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2AB5A-8C0D-B547-8B30-4DCC17F897FB}" type="slidenum">
              <a:rPr kumimoji="1" lang="ko-Kore-KR" altLang="en-US" smtClean="0"/>
              <a:t>4</a:t>
            </a:fld>
            <a:endParaRPr kumimoji="1" lang="ko-Kore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88C256-8CBD-D602-F4ED-7A6D314DBA9F}"/>
              </a:ext>
            </a:extLst>
          </p:cNvPr>
          <p:cNvSpPr/>
          <p:nvPr/>
        </p:nvSpPr>
        <p:spPr>
          <a:xfrm>
            <a:off x="2711252" y="527186"/>
            <a:ext cx="2234907" cy="122760"/>
          </a:xfrm>
          <a:prstGeom prst="rect">
            <a:avLst/>
          </a:prstGeom>
          <a:solidFill>
            <a:srgbClr val="D6EAFB"/>
          </a:solidFill>
          <a:ln w="190500">
            <a:solidFill>
              <a:srgbClr val="D6EAFB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RealSense RGB + Depth</a:t>
            </a:r>
            <a:endParaRPr kumimoji="1" lang="ko-Kore-KR" altLang="en-US" sz="10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ACD2F9-5964-EC48-AF30-AF546BE58780}"/>
              </a:ext>
            </a:extLst>
          </p:cNvPr>
          <p:cNvSpPr/>
          <p:nvPr/>
        </p:nvSpPr>
        <p:spPr>
          <a:xfrm flipV="1">
            <a:off x="3518668" y="324729"/>
            <a:ext cx="620077" cy="45719"/>
          </a:xfrm>
          <a:prstGeom prst="rect">
            <a:avLst/>
          </a:prstGeom>
          <a:solidFill>
            <a:srgbClr val="2A2A2A"/>
          </a:solidFill>
          <a:ln w="190500">
            <a:solidFill>
              <a:srgbClr val="2A2A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2583A2-D90B-79AA-4CC5-4A3CB9ABDE79}"/>
              </a:ext>
            </a:extLst>
          </p:cNvPr>
          <p:cNvSpPr txBox="1"/>
          <p:nvPr/>
        </p:nvSpPr>
        <p:spPr>
          <a:xfrm>
            <a:off x="3546437" y="225425"/>
            <a:ext cx="574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D6EAFB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INPUT</a:t>
            </a:r>
            <a:endParaRPr kumimoji="1" lang="ko-Kore-KR" altLang="en-US" sz="1050" dirty="0">
              <a:solidFill>
                <a:srgbClr val="D6EAFB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6F104F-E137-527B-D331-30B22294BDB4}"/>
              </a:ext>
            </a:extLst>
          </p:cNvPr>
          <p:cNvSpPr/>
          <p:nvPr/>
        </p:nvSpPr>
        <p:spPr>
          <a:xfrm>
            <a:off x="2718848" y="1263764"/>
            <a:ext cx="2227311" cy="1678015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CB48F33-5741-F78B-ED4F-88AFD7C9F9EF}"/>
              </a:ext>
            </a:extLst>
          </p:cNvPr>
          <p:cNvSpPr/>
          <p:nvPr/>
        </p:nvSpPr>
        <p:spPr>
          <a:xfrm>
            <a:off x="2744591" y="1300865"/>
            <a:ext cx="2185622" cy="272243"/>
          </a:xfrm>
          <a:prstGeom prst="roundRect">
            <a:avLst/>
          </a:prstGeom>
          <a:solidFill>
            <a:srgbClr val="FFF7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EECE210-9B7F-F33E-77BB-4F16F2180359}"/>
              </a:ext>
            </a:extLst>
          </p:cNvPr>
          <p:cNvSpPr/>
          <p:nvPr/>
        </p:nvSpPr>
        <p:spPr>
          <a:xfrm>
            <a:off x="2791810" y="1992764"/>
            <a:ext cx="2091394" cy="253783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BD6CA-40DC-C962-1ED3-5261AEDB3684}"/>
              </a:ext>
            </a:extLst>
          </p:cNvPr>
          <p:cNvSpPr txBox="1"/>
          <p:nvPr/>
        </p:nvSpPr>
        <p:spPr>
          <a:xfrm>
            <a:off x="2731045" y="1314305"/>
            <a:ext cx="22092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Perception &amp; Clustering Module</a:t>
            </a:r>
            <a:endParaRPr kumimoji="1" lang="ko-Kore-KR" altLang="en-US" sz="1050" dirty="0"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8C860D-1F5C-C11A-D395-DBB5F0DEDCDA}"/>
              </a:ext>
            </a:extLst>
          </p:cNvPr>
          <p:cNvSpPr txBox="1"/>
          <p:nvPr/>
        </p:nvSpPr>
        <p:spPr>
          <a:xfrm>
            <a:off x="2940931" y="1992987"/>
            <a:ext cx="18405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Multi-Preprocessing OCR</a:t>
            </a:r>
            <a:endParaRPr kumimoji="1" lang="ko-Kore-KR" altLang="en-US" sz="105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9BAABB16-1ACC-F6B5-54E1-C03D7DA7D0EA}"/>
              </a:ext>
            </a:extLst>
          </p:cNvPr>
          <p:cNvCxnSpPr>
            <a:cxnSpLocks/>
          </p:cNvCxnSpPr>
          <p:nvPr/>
        </p:nvCxnSpPr>
        <p:spPr>
          <a:xfrm>
            <a:off x="4556200" y="3632535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8EE4F4F7-B435-4AEF-B6A4-D297E8A47EA1}"/>
              </a:ext>
            </a:extLst>
          </p:cNvPr>
          <p:cNvCxnSpPr>
            <a:cxnSpLocks/>
          </p:cNvCxnSpPr>
          <p:nvPr/>
        </p:nvCxnSpPr>
        <p:spPr>
          <a:xfrm>
            <a:off x="3112255" y="3633647"/>
            <a:ext cx="0" cy="529969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49ACFC8B-0875-6DBF-5213-9932494158FB}"/>
              </a:ext>
            </a:extLst>
          </p:cNvPr>
          <p:cNvCxnSpPr>
            <a:cxnSpLocks/>
          </p:cNvCxnSpPr>
          <p:nvPr/>
        </p:nvCxnSpPr>
        <p:spPr>
          <a:xfrm>
            <a:off x="3099555" y="3643980"/>
            <a:ext cx="1456645" cy="0"/>
          </a:xfrm>
          <a:prstGeom prst="line">
            <a:avLst/>
          </a:prstGeom>
          <a:ln w="254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125C7C4-10BF-950E-6422-07686FA15A79}"/>
              </a:ext>
            </a:extLst>
          </p:cNvPr>
          <p:cNvSpPr/>
          <p:nvPr/>
        </p:nvSpPr>
        <p:spPr>
          <a:xfrm>
            <a:off x="1608219" y="3889799"/>
            <a:ext cx="2052587" cy="1088232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A1C63B77-8318-AE92-03C7-9AC18C5A8D63}"/>
              </a:ext>
            </a:extLst>
          </p:cNvPr>
          <p:cNvSpPr/>
          <p:nvPr/>
        </p:nvSpPr>
        <p:spPr>
          <a:xfrm>
            <a:off x="1675878" y="4378739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A8D2F3-22B6-8C8A-266E-4951A5CE29E4}"/>
              </a:ext>
            </a:extLst>
          </p:cNvPr>
          <p:cNvSpPr txBox="1"/>
          <p:nvPr/>
        </p:nvSpPr>
        <p:spPr>
          <a:xfrm>
            <a:off x="1840864" y="3889799"/>
            <a:ext cx="158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TTS Guidance Module</a:t>
            </a:r>
            <a:endParaRPr kumimoji="1" lang="ko-Kore-KR" altLang="en-US" sz="12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B21EF5AC-DD84-6E9E-E7E6-B8DFEB061B46}"/>
              </a:ext>
            </a:extLst>
          </p:cNvPr>
          <p:cNvSpPr/>
          <p:nvPr/>
        </p:nvSpPr>
        <p:spPr>
          <a:xfrm>
            <a:off x="2791810" y="2316033"/>
            <a:ext cx="2091394" cy="253783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9A5CD7-BF8D-3C17-053B-55FA29F9ADCE}"/>
              </a:ext>
            </a:extLst>
          </p:cNvPr>
          <p:cNvSpPr txBox="1"/>
          <p:nvPr/>
        </p:nvSpPr>
        <p:spPr>
          <a:xfrm>
            <a:off x="2731845" y="2325384"/>
            <a:ext cx="2207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Sentence Clustering (DBSCAN)</a:t>
            </a: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B7964F29-AF12-885A-F398-C6FB1C6B5BEA}"/>
              </a:ext>
            </a:extLst>
          </p:cNvPr>
          <p:cNvSpPr/>
          <p:nvPr/>
        </p:nvSpPr>
        <p:spPr>
          <a:xfrm>
            <a:off x="2791810" y="2628214"/>
            <a:ext cx="2091394" cy="253783"/>
          </a:xfrm>
          <a:prstGeom prst="roundRect">
            <a:avLst/>
          </a:prstGeom>
          <a:solidFill>
            <a:srgbClr val="FEF5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CC0E0A-BA67-83CF-C8F6-3B9E164D751C}"/>
              </a:ext>
            </a:extLst>
          </p:cNvPr>
          <p:cNvSpPr txBox="1"/>
          <p:nvPr/>
        </p:nvSpPr>
        <p:spPr>
          <a:xfrm>
            <a:off x="2783385" y="2628214"/>
            <a:ext cx="20906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05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Depth &amp; Direction Estimation</a:t>
            </a:r>
            <a:endParaRPr kumimoji="1" lang="ko-Kore-KR" altLang="en-US" sz="105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pic>
        <p:nvPicPr>
          <p:cNvPr id="78" name="그래픽 77" descr="왼쪽 화살표가 있는 원 윤곽선">
            <a:extLst>
              <a:ext uri="{FF2B5EF4-FFF2-40B4-BE49-F238E27FC236}">
                <a16:creationId xmlns:a16="http://schemas.microsoft.com/office/drawing/2014/main" id="{7340DC59-6B68-EF2B-C53C-580BAE130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3996453" y="824715"/>
            <a:ext cx="273228" cy="27322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59893F4-59CF-899A-8DE1-958B11BCEB03}"/>
              </a:ext>
            </a:extLst>
          </p:cNvPr>
          <p:cNvSpPr txBox="1"/>
          <p:nvPr/>
        </p:nvSpPr>
        <p:spPr>
          <a:xfrm rot="16200000">
            <a:off x="3621336" y="782004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pic>
        <p:nvPicPr>
          <p:cNvPr id="25" name="그래픽 24" descr="갈매기형 화살표 윤곽선">
            <a:extLst>
              <a:ext uri="{FF2B5EF4-FFF2-40B4-BE49-F238E27FC236}">
                <a16:creationId xmlns:a16="http://schemas.microsoft.com/office/drawing/2014/main" id="{3B3B648E-54BA-8F57-AB40-73EC55202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3699552" y="1650330"/>
            <a:ext cx="272241" cy="272241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C0C0E3D0-D528-3706-C139-F3BE07B8922B}"/>
              </a:ext>
            </a:extLst>
          </p:cNvPr>
          <p:cNvSpPr txBox="1"/>
          <p:nvPr/>
        </p:nvSpPr>
        <p:spPr>
          <a:xfrm rot="16200000">
            <a:off x="3619076" y="3151698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5F75D92-A7FB-5804-4217-742758A4EB99}"/>
              </a:ext>
            </a:extLst>
          </p:cNvPr>
          <p:cNvSpPr txBox="1"/>
          <p:nvPr/>
        </p:nvSpPr>
        <p:spPr>
          <a:xfrm>
            <a:off x="2036759" y="4391467"/>
            <a:ext cx="11641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Text Correction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01BC0F9-0EA7-8A07-F886-D2571BFB592D}"/>
              </a:ext>
            </a:extLst>
          </p:cNvPr>
          <p:cNvSpPr/>
          <p:nvPr/>
        </p:nvSpPr>
        <p:spPr>
          <a:xfrm>
            <a:off x="1669980" y="4702779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ABF3D28-A52E-0329-DF2F-10F3353A00CE}"/>
              </a:ext>
            </a:extLst>
          </p:cNvPr>
          <p:cNvSpPr/>
          <p:nvPr/>
        </p:nvSpPr>
        <p:spPr>
          <a:xfrm>
            <a:off x="4008286" y="3870602"/>
            <a:ext cx="2052587" cy="1088232"/>
          </a:xfrm>
          <a:prstGeom prst="rect">
            <a:avLst/>
          </a:prstGeom>
          <a:solidFill>
            <a:srgbClr val="F2F2F2"/>
          </a:solidFill>
          <a:ln w="190500">
            <a:solidFill>
              <a:srgbClr val="F2F2F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21B935B3-6DF8-AC5F-9F7A-1EA883994604}"/>
              </a:ext>
            </a:extLst>
          </p:cNvPr>
          <p:cNvSpPr/>
          <p:nvPr/>
        </p:nvSpPr>
        <p:spPr>
          <a:xfrm>
            <a:off x="4075945" y="4359542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9050705-FFF8-00C0-50F5-69E9F7B12FBB}"/>
              </a:ext>
            </a:extLst>
          </p:cNvPr>
          <p:cNvSpPr txBox="1"/>
          <p:nvPr/>
        </p:nvSpPr>
        <p:spPr>
          <a:xfrm>
            <a:off x="4240931" y="3870602"/>
            <a:ext cx="158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Directional Beep Alert Module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9043B1-C7DA-A218-5786-038F27F86106}"/>
              </a:ext>
            </a:extLst>
          </p:cNvPr>
          <p:cNvSpPr txBox="1"/>
          <p:nvPr/>
        </p:nvSpPr>
        <p:spPr>
          <a:xfrm>
            <a:off x="4367476" y="4367329"/>
            <a:ext cx="13821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YOLO Dynamic Obj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57EE2E6A-2FA0-2E2E-36D8-46C184301B09}"/>
              </a:ext>
            </a:extLst>
          </p:cNvPr>
          <p:cNvSpPr/>
          <p:nvPr/>
        </p:nvSpPr>
        <p:spPr>
          <a:xfrm>
            <a:off x="4070047" y="4683582"/>
            <a:ext cx="1917267" cy="27525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49A40E0-72F4-8482-181D-4521C1AD8F0F}"/>
              </a:ext>
            </a:extLst>
          </p:cNvPr>
          <p:cNvSpPr txBox="1"/>
          <p:nvPr/>
        </p:nvSpPr>
        <p:spPr>
          <a:xfrm>
            <a:off x="2226277" y="4724115"/>
            <a:ext cx="8274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Cloud TTS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71C9BF-6F17-2291-1942-AC12487C1062}"/>
              </a:ext>
            </a:extLst>
          </p:cNvPr>
          <p:cNvSpPr txBox="1"/>
          <p:nvPr/>
        </p:nvSpPr>
        <p:spPr>
          <a:xfrm>
            <a:off x="4422614" y="4680772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>
                <a:solidFill>
                  <a:srgbClr val="F2F2F2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Directional Beep</a:t>
            </a:r>
            <a:endParaRPr kumimoji="1" lang="ko-Kore-KR" altLang="en-US" sz="1050" dirty="0">
              <a:solidFill>
                <a:srgbClr val="F2F2F2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B1A29BE-81BC-FDAF-857A-039541D8FD0D}"/>
              </a:ext>
            </a:extLst>
          </p:cNvPr>
          <p:cNvSpPr txBox="1"/>
          <p:nvPr/>
        </p:nvSpPr>
        <p:spPr>
          <a:xfrm rot="16200000">
            <a:off x="3621758" y="5334598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r>
              <a:rPr kumimoji="1" lang="en-US" altLang="ko-KR" dirty="0">
                <a:solidFill>
                  <a:srgbClr val="2A2A2A"/>
                </a:solidFill>
                <a:latin typeface="GangwonEduPower" panose="02020603020101020101" pitchFamily="18" charset="-127"/>
                <a:ea typeface="GangwonEduPower" panose="02020603020101020101" pitchFamily="18" charset="-127"/>
              </a:rPr>
              <a:t>&lt;</a:t>
            </a:r>
            <a:endParaRPr kumimoji="1" lang="ko-Kore-KR" altLang="en-US" dirty="0">
              <a:solidFill>
                <a:srgbClr val="2A2A2A"/>
              </a:solidFill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1F59051-5922-33ED-A7A1-736B6F84B863}"/>
              </a:ext>
            </a:extLst>
          </p:cNvPr>
          <p:cNvSpPr txBox="1"/>
          <p:nvPr/>
        </p:nvSpPr>
        <p:spPr>
          <a:xfrm>
            <a:off x="2654137" y="6012581"/>
            <a:ext cx="23535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ore-KR" sz="1100" dirty="0">
                <a:solidFill>
                  <a:srgbClr val="2A2A2A"/>
                </a:solidFill>
                <a:latin typeface="S-Core Dream 1 Thin" panose="020B0503030302020204" pitchFamily="34" charset="-127"/>
                <a:ea typeface="S-Core Dream 1 Thin" panose="020B0503030302020204" pitchFamily="34" charset="-127"/>
              </a:rPr>
              <a:t>TTS voice + Directional Beep Mix</a:t>
            </a:r>
            <a:endParaRPr kumimoji="1" lang="ko-Kore-KR" altLang="en-US" sz="1100" dirty="0">
              <a:solidFill>
                <a:srgbClr val="2A2A2A"/>
              </a:solidFill>
              <a:latin typeface="S-Core Dream 1 Thin" panose="020B0503030302020204" pitchFamily="34" charset="-127"/>
              <a:ea typeface="S-Core Dream 1 Thin" panose="020B0503030302020204" pitchFamily="34" charset="-127"/>
            </a:endParaRPr>
          </a:p>
        </p:txBody>
      </p:sp>
      <p:pic>
        <p:nvPicPr>
          <p:cNvPr id="5" name="그림 4" descr="스크린샷, 텍스트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36C701-0420-2432-3AA8-EE8BF0EE95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0" t="7461" r="1743" b="2392"/>
          <a:stretch>
            <a:fillRect/>
          </a:stretch>
        </p:blipFill>
        <p:spPr>
          <a:xfrm>
            <a:off x="6712725" y="1001030"/>
            <a:ext cx="5076688" cy="284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4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39878</TotalTime>
  <Words>321</Words>
  <Application>Microsoft Macintosh PowerPoint</Application>
  <PresentationFormat>와이드스크린</PresentationFormat>
  <Paragraphs>116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Apple SD Gothic Neo</vt:lpstr>
      <vt:lpstr>Apple SD Gothic Neo Thin</vt:lpstr>
      <vt:lpstr>Apple SD Gothic Neo Thin</vt:lpstr>
      <vt:lpstr>Apple SD Gothic Neo UltraLight</vt:lpstr>
      <vt:lpstr>GangwonEduPower</vt:lpstr>
      <vt:lpstr>HS봄바람체 2.1</vt:lpstr>
      <vt:lpstr>S-Core Dream 1 Thin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김내경</dc:creator>
  <cp:lastModifiedBy>김내경</cp:lastModifiedBy>
  <cp:revision>29</cp:revision>
  <cp:lastPrinted>2024-12-04T10:05:58Z</cp:lastPrinted>
  <dcterms:created xsi:type="dcterms:W3CDTF">2024-12-03T01:12:13Z</dcterms:created>
  <dcterms:modified xsi:type="dcterms:W3CDTF">2025-11-18T04:18:57Z</dcterms:modified>
</cp:coreProperties>
</file>